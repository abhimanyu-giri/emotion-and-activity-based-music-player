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256" r:id="rId3"/>
    <p:sldId id="275" r:id="rId4"/>
    <p:sldId id="281" r:id="rId5"/>
    <p:sldId id="259" r:id="rId6"/>
    <p:sldId id="262" r:id="rId7"/>
    <p:sldId id="263" r:id="rId8"/>
    <p:sldId id="261" r:id="rId9"/>
    <p:sldId id="260" r:id="rId10"/>
    <p:sldId id="264" r:id="rId11"/>
    <p:sldId id="278" r:id="rId12"/>
    <p:sldId id="279" r:id="rId13"/>
    <p:sldId id="265" r:id="rId14"/>
    <p:sldId id="266" r:id="rId15"/>
    <p:sldId id="267" r:id="rId16"/>
    <p:sldId id="269" r:id="rId17"/>
    <p:sldId id="276" r:id="rId18"/>
    <p:sldId id="270" r:id="rId19"/>
    <p:sldId id="283" r:id="rId20"/>
    <p:sldId id="284" r:id="rId21"/>
    <p:sldId id="285" r:id="rId22"/>
    <p:sldId id="271" r:id="rId23"/>
    <p:sldId id="272" r:id="rId24"/>
    <p:sldId id="273" r:id="rId25"/>
    <p:sldId id="27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89150" autoAdjust="0"/>
  </p:normalViewPr>
  <p:slideViewPr>
    <p:cSldViewPr snapToGrid="0">
      <p:cViewPr varScale="1">
        <p:scale>
          <a:sx n="76" d="100"/>
          <a:sy n="76" d="100"/>
        </p:scale>
        <p:origin x="78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066C26-367E-405D-9A1A-85CD5A798E67}" type="datetimeFigureOut">
              <a:rPr lang="en-IN" smtClean="0"/>
              <a:t>13-06-2025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E65153-1115-480E-BA11-64DDEE6DF50C}" type="slidenum">
              <a:rPr lang="en-IN" smtClean="0"/>
              <a:t>‹#›</a:t>
            </a:fld>
            <a:endParaRPr lang="en-IN"/>
          </a:p>
        </p:txBody>
      </p:sp>
    </p:spTree>
    <p:extLst>
      <p:ext uri="{BB962C8B-B14F-4D97-AF65-F5344CB8AC3E}">
        <p14:creationId xmlns:p14="http://schemas.microsoft.com/office/powerpoint/2010/main" val="2641791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a:t>
            </a:r>
            <a:endParaRPr lang="en-IN" dirty="0"/>
          </a:p>
        </p:txBody>
      </p:sp>
      <p:sp>
        <p:nvSpPr>
          <p:cNvPr id="4" name="Slide Number Placeholder 3"/>
          <p:cNvSpPr>
            <a:spLocks noGrp="1"/>
          </p:cNvSpPr>
          <p:nvPr>
            <p:ph type="sldNum" sz="quarter" idx="5"/>
          </p:nvPr>
        </p:nvSpPr>
        <p:spPr/>
        <p:txBody>
          <a:bodyPr/>
          <a:lstStyle/>
          <a:p>
            <a:fld id="{9CE65153-1115-480E-BA11-64DDEE6DF50C}" type="slidenum">
              <a:rPr lang="en-IN" smtClean="0"/>
              <a:t>1</a:t>
            </a:fld>
            <a:endParaRPr lang="en-IN"/>
          </a:p>
        </p:txBody>
      </p:sp>
    </p:spTree>
    <p:extLst>
      <p:ext uri="{BB962C8B-B14F-4D97-AF65-F5344CB8AC3E}">
        <p14:creationId xmlns:p14="http://schemas.microsoft.com/office/powerpoint/2010/main" val="583095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CE65153-1115-480E-BA11-64DDEE6DF50C}" type="slidenum">
              <a:rPr lang="en-IN" smtClean="0"/>
              <a:t>15</a:t>
            </a:fld>
            <a:endParaRPr lang="en-IN"/>
          </a:p>
        </p:txBody>
      </p:sp>
    </p:spTree>
    <p:extLst>
      <p:ext uri="{BB962C8B-B14F-4D97-AF65-F5344CB8AC3E}">
        <p14:creationId xmlns:p14="http://schemas.microsoft.com/office/powerpoint/2010/main" val="2082411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12775-F0C0-F177-0128-EEE7CAD7E5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2D0DBC-0B2F-7172-95A7-F616374871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D60F7DB-F425-26F8-CDC7-34B78D9FCD42}"/>
              </a:ext>
            </a:extLst>
          </p:cNvPr>
          <p:cNvSpPr>
            <a:spLocks noGrp="1"/>
          </p:cNvSpPr>
          <p:nvPr>
            <p:ph type="dt" sz="half" idx="10"/>
          </p:nvPr>
        </p:nvSpPr>
        <p:spPr/>
        <p:txBody>
          <a:bodyPr/>
          <a:lstStyle/>
          <a:p>
            <a:fld id="{3A4D81CF-19E5-4684-B31E-AE17BFF1167F}" type="datetimeFigureOut">
              <a:rPr lang="en-IN" smtClean="0"/>
              <a:t>13-06-2025</a:t>
            </a:fld>
            <a:endParaRPr lang="en-IN"/>
          </a:p>
        </p:txBody>
      </p:sp>
      <p:sp>
        <p:nvSpPr>
          <p:cNvPr id="5" name="Footer Placeholder 4">
            <a:extLst>
              <a:ext uri="{FF2B5EF4-FFF2-40B4-BE49-F238E27FC236}">
                <a16:creationId xmlns:a16="http://schemas.microsoft.com/office/drawing/2014/main" id="{D28525C3-DE4C-445F-6833-8EC196BC39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2A8578-5389-7AFB-26EF-F0DC0DADF1C7}"/>
              </a:ext>
            </a:extLst>
          </p:cNvPr>
          <p:cNvSpPr>
            <a:spLocks noGrp="1"/>
          </p:cNvSpPr>
          <p:nvPr>
            <p:ph type="sldNum" sz="quarter" idx="12"/>
          </p:nvPr>
        </p:nvSpPr>
        <p:spPr/>
        <p:txBody>
          <a:bodyPr/>
          <a:lstStyle/>
          <a:p>
            <a:fld id="{05FA91F0-DD8C-4FD5-83E2-B3ACF8164897}" type="slidenum">
              <a:rPr lang="en-IN" smtClean="0"/>
              <a:t>‹#›</a:t>
            </a:fld>
            <a:endParaRPr lang="en-IN"/>
          </a:p>
        </p:txBody>
      </p:sp>
    </p:spTree>
    <p:extLst>
      <p:ext uri="{BB962C8B-B14F-4D97-AF65-F5344CB8AC3E}">
        <p14:creationId xmlns:p14="http://schemas.microsoft.com/office/powerpoint/2010/main" val="881962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6936E-D1F9-2CCF-3084-D75857DFE6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955759-408E-1E54-70EE-8E4BAF8C77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7C848F-CFBE-AB8B-C029-FCFEB0B9761A}"/>
              </a:ext>
            </a:extLst>
          </p:cNvPr>
          <p:cNvSpPr>
            <a:spLocks noGrp="1"/>
          </p:cNvSpPr>
          <p:nvPr>
            <p:ph type="dt" sz="half" idx="10"/>
          </p:nvPr>
        </p:nvSpPr>
        <p:spPr/>
        <p:txBody>
          <a:bodyPr/>
          <a:lstStyle/>
          <a:p>
            <a:fld id="{3A4D81CF-19E5-4684-B31E-AE17BFF1167F}" type="datetimeFigureOut">
              <a:rPr lang="en-IN" smtClean="0"/>
              <a:t>13-06-2025</a:t>
            </a:fld>
            <a:endParaRPr lang="en-IN"/>
          </a:p>
        </p:txBody>
      </p:sp>
      <p:sp>
        <p:nvSpPr>
          <p:cNvPr id="5" name="Footer Placeholder 4">
            <a:extLst>
              <a:ext uri="{FF2B5EF4-FFF2-40B4-BE49-F238E27FC236}">
                <a16:creationId xmlns:a16="http://schemas.microsoft.com/office/drawing/2014/main" id="{D3AFD661-0130-EB26-46D0-EB4782DF07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8B62B-8308-FB75-1D41-FAF491AC56A2}"/>
              </a:ext>
            </a:extLst>
          </p:cNvPr>
          <p:cNvSpPr>
            <a:spLocks noGrp="1"/>
          </p:cNvSpPr>
          <p:nvPr>
            <p:ph type="sldNum" sz="quarter" idx="12"/>
          </p:nvPr>
        </p:nvSpPr>
        <p:spPr/>
        <p:txBody>
          <a:bodyPr/>
          <a:lstStyle/>
          <a:p>
            <a:fld id="{05FA91F0-DD8C-4FD5-83E2-B3ACF8164897}" type="slidenum">
              <a:rPr lang="en-IN" smtClean="0"/>
              <a:t>‹#›</a:t>
            </a:fld>
            <a:endParaRPr lang="en-IN"/>
          </a:p>
        </p:txBody>
      </p:sp>
    </p:spTree>
    <p:extLst>
      <p:ext uri="{BB962C8B-B14F-4D97-AF65-F5344CB8AC3E}">
        <p14:creationId xmlns:p14="http://schemas.microsoft.com/office/powerpoint/2010/main" val="3036779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B8F7A-8EFE-5003-8CA9-C93F657CF1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34B61E7-F386-168C-434F-DF2883DF5E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A1833E-AF29-C352-26F2-8FCF5362AD61}"/>
              </a:ext>
            </a:extLst>
          </p:cNvPr>
          <p:cNvSpPr>
            <a:spLocks noGrp="1"/>
          </p:cNvSpPr>
          <p:nvPr>
            <p:ph type="dt" sz="half" idx="10"/>
          </p:nvPr>
        </p:nvSpPr>
        <p:spPr/>
        <p:txBody>
          <a:bodyPr/>
          <a:lstStyle/>
          <a:p>
            <a:fld id="{3A4D81CF-19E5-4684-B31E-AE17BFF1167F}" type="datetimeFigureOut">
              <a:rPr lang="en-IN" smtClean="0"/>
              <a:t>13-06-2025</a:t>
            </a:fld>
            <a:endParaRPr lang="en-IN"/>
          </a:p>
        </p:txBody>
      </p:sp>
      <p:sp>
        <p:nvSpPr>
          <p:cNvPr id="5" name="Footer Placeholder 4">
            <a:extLst>
              <a:ext uri="{FF2B5EF4-FFF2-40B4-BE49-F238E27FC236}">
                <a16:creationId xmlns:a16="http://schemas.microsoft.com/office/drawing/2014/main" id="{A969765A-42DF-2C8E-16C9-2A55ED2E07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491696-B22C-A221-6771-03BBA3BCE30A}"/>
              </a:ext>
            </a:extLst>
          </p:cNvPr>
          <p:cNvSpPr>
            <a:spLocks noGrp="1"/>
          </p:cNvSpPr>
          <p:nvPr>
            <p:ph type="sldNum" sz="quarter" idx="12"/>
          </p:nvPr>
        </p:nvSpPr>
        <p:spPr/>
        <p:txBody>
          <a:bodyPr/>
          <a:lstStyle/>
          <a:p>
            <a:fld id="{05FA91F0-DD8C-4FD5-83E2-B3ACF8164897}" type="slidenum">
              <a:rPr lang="en-IN" smtClean="0"/>
              <a:t>‹#›</a:t>
            </a:fld>
            <a:endParaRPr lang="en-IN"/>
          </a:p>
        </p:txBody>
      </p:sp>
    </p:spTree>
    <p:extLst>
      <p:ext uri="{BB962C8B-B14F-4D97-AF65-F5344CB8AC3E}">
        <p14:creationId xmlns:p14="http://schemas.microsoft.com/office/powerpoint/2010/main" val="3298777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541F-80B5-497C-DAC1-54F85EFC93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78DAEE-0B60-6F36-FB47-FA1AE78F01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3D5389C-7B00-33BE-C5BE-B063178D23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D9FA20-8FCB-975C-6351-06E9D23FC992}"/>
              </a:ext>
            </a:extLst>
          </p:cNvPr>
          <p:cNvSpPr>
            <a:spLocks noGrp="1"/>
          </p:cNvSpPr>
          <p:nvPr>
            <p:ph type="dt" sz="half" idx="10"/>
          </p:nvPr>
        </p:nvSpPr>
        <p:spPr/>
        <p:txBody>
          <a:bodyPr/>
          <a:lstStyle/>
          <a:p>
            <a:fld id="{3A4D81CF-19E5-4684-B31E-AE17BFF1167F}" type="datetimeFigureOut">
              <a:rPr lang="en-IN" smtClean="0"/>
              <a:t>13-06-2025</a:t>
            </a:fld>
            <a:endParaRPr lang="en-IN"/>
          </a:p>
        </p:txBody>
      </p:sp>
      <p:sp>
        <p:nvSpPr>
          <p:cNvPr id="6" name="Footer Placeholder 5">
            <a:extLst>
              <a:ext uri="{FF2B5EF4-FFF2-40B4-BE49-F238E27FC236}">
                <a16:creationId xmlns:a16="http://schemas.microsoft.com/office/drawing/2014/main" id="{A75708D7-B49E-456D-D9BC-65CB82E614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A8EF73-368F-8B4A-E54B-0EF7F1A45181}"/>
              </a:ext>
            </a:extLst>
          </p:cNvPr>
          <p:cNvSpPr>
            <a:spLocks noGrp="1"/>
          </p:cNvSpPr>
          <p:nvPr>
            <p:ph type="sldNum" sz="quarter" idx="12"/>
          </p:nvPr>
        </p:nvSpPr>
        <p:spPr/>
        <p:txBody>
          <a:bodyPr/>
          <a:lstStyle/>
          <a:p>
            <a:fld id="{05FA91F0-DD8C-4FD5-83E2-B3ACF8164897}" type="slidenum">
              <a:rPr lang="en-IN" smtClean="0"/>
              <a:t>‹#›</a:t>
            </a:fld>
            <a:endParaRPr lang="en-IN"/>
          </a:p>
        </p:txBody>
      </p:sp>
    </p:spTree>
    <p:extLst>
      <p:ext uri="{BB962C8B-B14F-4D97-AF65-F5344CB8AC3E}">
        <p14:creationId xmlns:p14="http://schemas.microsoft.com/office/powerpoint/2010/main" val="361936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861DD-5A80-51C7-CEA1-1B1253693E8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039170-E23C-2706-B45C-2D88C5260E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E4F4F1-EBE4-C229-130F-80BD981C55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E7AE80B-F2C2-C5AF-AE4F-145BF0F9AF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7478CC-AF12-FCA6-FFC9-FCB081C84B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9BA40DF-1A78-7F35-378B-73881D0258E4}"/>
              </a:ext>
            </a:extLst>
          </p:cNvPr>
          <p:cNvSpPr>
            <a:spLocks noGrp="1"/>
          </p:cNvSpPr>
          <p:nvPr>
            <p:ph type="dt" sz="half" idx="10"/>
          </p:nvPr>
        </p:nvSpPr>
        <p:spPr/>
        <p:txBody>
          <a:bodyPr/>
          <a:lstStyle/>
          <a:p>
            <a:fld id="{3A4D81CF-19E5-4684-B31E-AE17BFF1167F}" type="datetimeFigureOut">
              <a:rPr lang="en-IN" smtClean="0"/>
              <a:t>13-06-2025</a:t>
            </a:fld>
            <a:endParaRPr lang="en-IN"/>
          </a:p>
        </p:txBody>
      </p:sp>
      <p:sp>
        <p:nvSpPr>
          <p:cNvPr id="8" name="Footer Placeholder 7">
            <a:extLst>
              <a:ext uri="{FF2B5EF4-FFF2-40B4-BE49-F238E27FC236}">
                <a16:creationId xmlns:a16="http://schemas.microsoft.com/office/drawing/2014/main" id="{17E71E1E-36D0-5533-83D6-391AA796BFB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3BA540D-B599-D7CB-905E-C4A2D60EC5B6}"/>
              </a:ext>
            </a:extLst>
          </p:cNvPr>
          <p:cNvSpPr>
            <a:spLocks noGrp="1"/>
          </p:cNvSpPr>
          <p:nvPr>
            <p:ph type="sldNum" sz="quarter" idx="12"/>
          </p:nvPr>
        </p:nvSpPr>
        <p:spPr/>
        <p:txBody>
          <a:bodyPr/>
          <a:lstStyle/>
          <a:p>
            <a:fld id="{05FA91F0-DD8C-4FD5-83E2-B3ACF8164897}" type="slidenum">
              <a:rPr lang="en-IN" smtClean="0"/>
              <a:t>‹#›</a:t>
            </a:fld>
            <a:endParaRPr lang="en-IN"/>
          </a:p>
        </p:txBody>
      </p:sp>
    </p:spTree>
    <p:extLst>
      <p:ext uri="{BB962C8B-B14F-4D97-AF65-F5344CB8AC3E}">
        <p14:creationId xmlns:p14="http://schemas.microsoft.com/office/powerpoint/2010/main" val="3415058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36B55-6D1C-B804-0675-16DF06B7290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6B2CBF-813D-704D-B0A1-EDF13C45A71A}"/>
              </a:ext>
            </a:extLst>
          </p:cNvPr>
          <p:cNvSpPr>
            <a:spLocks noGrp="1"/>
          </p:cNvSpPr>
          <p:nvPr>
            <p:ph type="dt" sz="half" idx="10"/>
          </p:nvPr>
        </p:nvSpPr>
        <p:spPr/>
        <p:txBody>
          <a:bodyPr/>
          <a:lstStyle/>
          <a:p>
            <a:fld id="{3A4D81CF-19E5-4684-B31E-AE17BFF1167F}" type="datetimeFigureOut">
              <a:rPr lang="en-IN" smtClean="0"/>
              <a:t>13-06-2025</a:t>
            </a:fld>
            <a:endParaRPr lang="en-IN"/>
          </a:p>
        </p:txBody>
      </p:sp>
      <p:sp>
        <p:nvSpPr>
          <p:cNvPr id="4" name="Footer Placeholder 3">
            <a:extLst>
              <a:ext uri="{FF2B5EF4-FFF2-40B4-BE49-F238E27FC236}">
                <a16:creationId xmlns:a16="http://schemas.microsoft.com/office/drawing/2014/main" id="{92066362-58A7-EF9C-9EA5-D088DC4B724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80DFD8-3D47-BD9A-2021-A6198FBDE096}"/>
              </a:ext>
            </a:extLst>
          </p:cNvPr>
          <p:cNvSpPr>
            <a:spLocks noGrp="1"/>
          </p:cNvSpPr>
          <p:nvPr>
            <p:ph type="sldNum" sz="quarter" idx="12"/>
          </p:nvPr>
        </p:nvSpPr>
        <p:spPr/>
        <p:txBody>
          <a:bodyPr/>
          <a:lstStyle/>
          <a:p>
            <a:fld id="{05FA91F0-DD8C-4FD5-83E2-B3ACF8164897}" type="slidenum">
              <a:rPr lang="en-IN" smtClean="0"/>
              <a:t>‹#›</a:t>
            </a:fld>
            <a:endParaRPr lang="en-IN"/>
          </a:p>
        </p:txBody>
      </p:sp>
    </p:spTree>
    <p:extLst>
      <p:ext uri="{BB962C8B-B14F-4D97-AF65-F5344CB8AC3E}">
        <p14:creationId xmlns:p14="http://schemas.microsoft.com/office/powerpoint/2010/main" val="3448116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6C0C5F-25F6-5C45-1D52-2FD2BBB1F644}"/>
              </a:ext>
            </a:extLst>
          </p:cNvPr>
          <p:cNvSpPr>
            <a:spLocks noGrp="1"/>
          </p:cNvSpPr>
          <p:nvPr>
            <p:ph type="dt" sz="half" idx="10"/>
          </p:nvPr>
        </p:nvSpPr>
        <p:spPr/>
        <p:txBody>
          <a:bodyPr/>
          <a:lstStyle/>
          <a:p>
            <a:fld id="{3A4D81CF-19E5-4684-B31E-AE17BFF1167F}" type="datetimeFigureOut">
              <a:rPr lang="en-IN" smtClean="0"/>
              <a:t>13-06-2025</a:t>
            </a:fld>
            <a:endParaRPr lang="en-IN"/>
          </a:p>
        </p:txBody>
      </p:sp>
      <p:sp>
        <p:nvSpPr>
          <p:cNvPr id="3" name="Footer Placeholder 2">
            <a:extLst>
              <a:ext uri="{FF2B5EF4-FFF2-40B4-BE49-F238E27FC236}">
                <a16:creationId xmlns:a16="http://schemas.microsoft.com/office/drawing/2014/main" id="{4A4B9B2B-7254-8C65-FABC-7D3FDDB3A88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FDBD0B1-93CF-8341-6470-BDA41E7045E8}"/>
              </a:ext>
            </a:extLst>
          </p:cNvPr>
          <p:cNvSpPr>
            <a:spLocks noGrp="1"/>
          </p:cNvSpPr>
          <p:nvPr>
            <p:ph type="sldNum" sz="quarter" idx="12"/>
          </p:nvPr>
        </p:nvSpPr>
        <p:spPr/>
        <p:txBody>
          <a:bodyPr/>
          <a:lstStyle/>
          <a:p>
            <a:fld id="{05FA91F0-DD8C-4FD5-83E2-B3ACF8164897}" type="slidenum">
              <a:rPr lang="en-IN" smtClean="0"/>
              <a:t>‹#›</a:t>
            </a:fld>
            <a:endParaRPr lang="en-IN"/>
          </a:p>
        </p:txBody>
      </p:sp>
    </p:spTree>
    <p:extLst>
      <p:ext uri="{BB962C8B-B14F-4D97-AF65-F5344CB8AC3E}">
        <p14:creationId xmlns:p14="http://schemas.microsoft.com/office/powerpoint/2010/main" val="3754332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EEA11-EF2E-85D2-1B2B-52AFDBE227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D8A3DF-A255-ECC9-7331-893DFDF31A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B4F874-E86C-34E2-2DF1-67B7452E77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5E1555-C801-1A0E-E278-F40D09B49AE2}"/>
              </a:ext>
            </a:extLst>
          </p:cNvPr>
          <p:cNvSpPr>
            <a:spLocks noGrp="1"/>
          </p:cNvSpPr>
          <p:nvPr>
            <p:ph type="dt" sz="half" idx="10"/>
          </p:nvPr>
        </p:nvSpPr>
        <p:spPr/>
        <p:txBody>
          <a:bodyPr/>
          <a:lstStyle/>
          <a:p>
            <a:fld id="{3A4D81CF-19E5-4684-B31E-AE17BFF1167F}" type="datetimeFigureOut">
              <a:rPr lang="en-IN" smtClean="0"/>
              <a:t>13-06-2025</a:t>
            </a:fld>
            <a:endParaRPr lang="en-IN"/>
          </a:p>
        </p:txBody>
      </p:sp>
      <p:sp>
        <p:nvSpPr>
          <p:cNvPr id="6" name="Footer Placeholder 5">
            <a:extLst>
              <a:ext uri="{FF2B5EF4-FFF2-40B4-BE49-F238E27FC236}">
                <a16:creationId xmlns:a16="http://schemas.microsoft.com/office/drawing/2014/main" id="{7047A8DF-A769-247C-44B3-49DA548D76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BA3AD1-B3B7-B4D2-1568-A43DA59D2533}"/>
              </a:ext>
            </a:extLst>
          </p:cNvPr>
          <p:cNvSpPr>
            <a:spLocks noGrp="1"/>
          </p:cNvSpPr>
          <p:nvPr>
            <p:ph type="sldNum" sz="quarter" idx="12"/>
          </p:nvPr>
        </p:nvSpPr>
        <p:spPr/>
        <p:txBody>
          <a:bodyPr/>
          <a:lstStyle/>
          <a:p>
            <a:fld id="{05FA91F0-DD8C-4FD5-83E2-B3ACF8164897}" type="slidenum">
              <a:rPr lang="en-IN" smtClean="0"/>
              <a:t>‹#›</a:t>
            </a:fld>
            <a:endParaRPr lang="en-IN"/>
          </a:p>
        </p:txBody>
      </p:sp>
    </p:spTree>
    <p:extLst>
      <p:ext uri="{BB962C8B-B14F-4D97-AF65-F5344CB8AC3E}">
        <p14:creationId xmlns:p14="http://schemas.microsoft.com/office/powerpoint/2010/main" val="1830416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05CA-14A6-E8CD-DC3C-C66B1B01CF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A167171-D145-D9DC-CDD2-8772C3F25E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C9F97E3-0BF9-4386-B53C-56691A3D6E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067625-ECC1-5BB8-9721-09D5B141166D}"/>
              </a:ext>
            </a:extLst>
          </p:cNvPr>
          <p:cNvSpPr>
            <a:spLocks noGrp="1"/>
          </p:cNvSpPr>
          <p:nvPr>
            <p:ph type="dt" sz="half" idx="10"/>
          </p:nvPr>
        </p:nvSpPr>
        <p:spPr/>
        <p:txBody>
          <a:bodyPr/>
          <a:lstStyle/>
          <a:p>
            <a:fld id="{3A4D81CF-19E5-4684-B31E-AE17BFF1167F}" type="datetimeFigureOut">
              <a:rPr lang="en-IN" smtClean="0"/>
              <a:t>13-06-2025</a:t>
            </a:fld>
            <a:endParaRPr lang="en-IN"/>
          </a:p>
        </p:txBody>
      </p:sp>
      <p:sp>
        <p:nvSpPr>
          <p:cNvPr id="6" name="Footer Placeholder 5">
            <a:extLst>
              <a:ext uri="{FF2B5EF4-FFF2-40B4-BE49-F238E27FC236}">
                <a16:creationId xmlns:a16="http://schemas.microsoft.com/office/drawing/2014/main" id="{11B029C1-4AC0-49A4-3284-ED90E8F236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AFDBC8-5F78-FADD-B56C-FC9EA088EECA}"/>
              </a:ext>
            </a:extLst>
          </p:cNvPr>
          <p:cNvSpPr>
            <a:spLocks noGrp="1"/>
          </p:cNvSpPr>
          <p:nvPr>
            <p:ph type="sldNum" sz="quarter" idx="12"/>
          </p:nvPr>
        </p:nvSpPr>
        <p:spPr/>
        <p:txBody>
          <a:bodyPr/>
          <a:lstStyle/>
          <a:p>
            <a:fld id="{05FA91F0-DD8C-4FD5-83E2-B3ACF8164897}" type="slidenum">
              <a:rPr lang="en-IN" smtClean="0"/>
              <a:t>‹#›</a:t>
            </a:fld>
            <a:endParaRPr lang="en-IN"/>
          </a:p>
        </p:txBody>
      </p:sp>
    </p:spTree>
    <p:extLst>
      <p:ext uri="{BB962C8B-B14F-4D97-AF65-F5344CB8AC3E}">
        <p14:creationId xmlns:p14="http://schemas.microsoft.com/office/powerpoint/2010/main" val="333746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29E5-C201-EBB4-C8DE-4ADC48A92F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6689EC-E365-84E4-60F6-0568D23AD4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5A76B0-9A7F-5F97-DCD7-87A99A4523FB}"/>
              </a:ext>
            </a:extLst>
          </p:cNvPr>
          <p:cNvSpPr>
            <a:spLocks noGrp="1"/>
          </p:cNvSpPr>
          <p:nvPr>
            <p:ph type="dt" sz="half" idx="10"/>
          </p:nvPr>
        </p:nvSpPr>
        <p:spPr/>
        <p:txBody>
          <a:bodyPr/>
          <a:lstStyle/>
          <a:p>
            <a:fld id="{3A4D81CF-19E5-4684-B31E-AE17BFF1167F}" type="datetimeFigureOut">
              <a:rPr lang="en-IN" smtClean="0"/>
              <a:t>13-06-2025</a:t>
            </a:fld>
            <a:endParaRPr lang="en-IN"/>
          </a:p>
        </p:txBody>
      </p:sp>
      <p:sp>
        <p:nvSpPr>
          <p:cNvPr id="5" name="Footer Placeholder 4">
            <a:extLst>
              <a:ext uri="{FF2B5EF4-FFF2-40B4-BE49-F238E27FC236}">
                <a16:creationId xmlns:a16="http://schemas.microsoft.com/office/drawing/2014/main" id="{748719AC-6BD7-325A-F10A-ABD670E6E1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E897DD-8EE4-0B46-2E54-7EEBFE4A6BC2}"/>
              </a:ext>
            </a:extLst>
          </p:cNvPr>
          <p:cNvSpPr>
            <a:spLocks noGrp="1"/>
          </p:cNvSpPr>
          <p:nvPr>
            <p:ph type="sldNum" sz="quarter" idx="12"/>
          </p:nvPr>
        </p:nvSpPr>
        <p:spPr/>
        <p:txBody>
          <a:bodyPr/>
          <a:lstStyle/>
          <a:p>
            <a:fld id="{05FA91F0-DD8C-4FD5-83E2-B3ACF8164897}" type="slidenum">
              <a:rPr lang="en-IN" smtClean="0"/>
              <a:t>‹#›</a:t>
            </a:fld>
            <a:endParaRPr lang="en-IN"/>
          </a:p>
        </p:txBody>
      </p:sp>
    </p:spTree>
    <p:extLst>
      <p:ext uri="{BB962C8B-B14F-4D97-AF65-F5344CB8AC3E}">
        <p14:creationId xmlns:p14="http://schemas.microsoft.com/office/powerpoint/2010/main" val="3585675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69CC2B-3E20-DBC2-FB92-2314A6E09A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919646-0747-EA43-7524-EB97A66E1D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BD4AB8-8BAE-A507-0E41-488426FAF056}"/>
              </a:ext>
            </a:extLst>
          </p:cNvPr>
          <p:cNvSpPr>
            <a:spLocks noGrp="1"/>
          </p:cNvSpPr>
          <p:nvPr>
            <p:ph type="dt" sz="half" idx="10"/>
          </p:nvPr>
        </p:nvSpPr>
        <p:spPr/>
        <p:txBody>
          <a:bodyPr/>
          <a:lstStyle/>
          <a:p>
            <a:fld id="{3A4D81CF-19E5-4684-B31E-AE17BFF1167F}" type="datetimeFigureOut">
              <a:rPr lang="en-IN" smtClean="0"/>
              <a:t>13-06-2025</a:t>
            </a:fld>
            <a:endParaRPr lang="en-IN"/>
          </a:p>
        </p:txBody>
      </p:sp>
      <p:sp>
        <p:nvSpPr>
          <p:cNvPr id="5" name="Footer Placeholder 4">
            <a:extLst>
              <a:ext uri="{FF2B5EF4-FFF2-40B4-BE49-F238E27FC236}">
                <a16:creationId xmlns:a16="http://schemas.microsoft.com/office/drawing/2014/main" id="{12694C4E-E059-02C9-91A7-C2143ECB63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454730-A64A-027C-07AC-21B4B1CCC0F9}"/>
              </a:ext>
            </a:extLst>
          </p:cNvPr>
          <p:cNvSpPr>
            <a:spLocks noGrp="1"/>
          </p:cNvSpPr>
          <p:nvPr>
            <p:ph type="sldNum" sz="quarter" idx="12"/>
          </p:nvPr>
        </p:nvSpPr>
        <p:spPr/>
        <p:txBody>
          <a:bodyPr/>
          <a:lstStyle/>
          <a:p>
            <a:fld id="{05FA91F0-DD8C-4FD5-83E2-B3ACF8164897}" type="slidenum">
              <a:rPr lang="en-IN" smtClean="0"/>
              <a:t>‹#›</a:t>
            </a:fld>
            <a:endParaRPr lang="en-IN"/>
          </a:p>
        </p:txBody>
      </p:sp>
    </p:spTree>
    <p:extLst>
      <p:ext uri="{BB962C8B-B14F-4D97-AF65-F5344CB8AC3E}">
        <p14:creationId xmlns:p14="http://schemas.microsoft.com/office/powerpoint/2010/main" val="1971689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5FD7AF-532F-97B9-7AE3-00484CC26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FE5F90-3E7A-786C-9AA9-9028C361F0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839B47-1137-B662-75BD-04E0848739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4D81CF-19E5-4684-B31E-AE17BFF1167F}" type="datetimeFigureOut">
              <a:rPr lang="en-IN" smtClean="0"/>
              <a:t>13-06-2025</a:t>
            </a:fld>
            <a:endParaRPr lang="en-IN"/>
          </a:p>
        </p:txBody>
      </p:sp>
      <p:sp>
        <p:nvSpPr>
          <p:cNvPr id="5" name="Footer Placeholder 4">
            <a:extLst>
              <a:ext uri="{FF2B5EF4-FFF2-40B4-BE49-F238E27FC236}">
                <a16:creationId xmlns:a16="http://schemas.microsoft.com/office/drawing/2014/main" id="{3BB6E48B-E943-9CB9-0BCC-F009BBF9D9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8532372-7AF9-6866-0EC8-E28E3C0801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FA91F0-DD8C-4FD5-83E2-B3ACF8164897}" type="slidenum">
              <a:rPr lang="en-IN" smtClean="0"/>
              <a:t>‹#›</a:t>
            </a:fld>
            <a:endParaRPr lang="en-IN"/>
          </a:p>
        </p:txBody>
      </p:sp>
    </p:spTree>
    <p:extLst>
      <p:ext uri="{BB962C8B-B14F-4D97-AF65-F5344CB8AC3E}">
        <p14:creationId xmlns:p14="http://schemas.microsoft.com/office/powerpoint/2010/main" val="2563733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28" descr="C:\Users\PL\Pictures\Microsoft.Windows.Photos_8wekyb3d8bbwe!App\Capture.PNGCapture">
            <a:extLst>
              <a:ext uri="{FF2B5EF4-FFF2-40B4-BE49-F238E27FC236}">
                <a16:creationId xmlns:a16="http://schemas.microsoft.com/office/drawing/2014/main" id="{2929A2A2-61FD-5077-395B-8E2F40F7B248}"/>
              </a:ext>
            </a:extLst>
          </p:cNvPr>
          <p:cNvPicPr>
            <a:picLocks noChangeAspect="1"/>
          </p:cNvPicPr>
          <p:nvPr/>
        </p:nvPicPr>
        <p:blipFill>
          <a:blip r:embed="rId3"/>
          <a:srcRect/>
          <a:stretch>
            <a:fillRect/>
          </a:stretch>
        </p:blipFill>
        <p:spPr>
          <a:xfrm rot="10800000" flipH="1" flipV="1">
            <a:off x="0" y="18918"/>
            <a:ext cx="12192000" cy="1602492"/>
          </a:xfrm>
          <a:prstGeom prst="rect">
            <a:avLst/>
          </a:prstGeom>
        </p:spPr>
      </p:pic>
      <p:sp>
        <p:nvSpPr>
          <p:cNvPr id="4" name="TextBox 3">
            <a:extLst>
              <a:ext uri="{FF2B5EF4-FFF2-40B4-BE49-F238E27FC236}">
                <a16:creationId xmlns:a16="http://schemas.microsoft.com/office/drawing/2014/main" id="{CC740EAE-2439-5BBE-C97E-269DF53206D2}"/>
              </a:ext>
            </a:extLst>
          </p:cNvPr>
          <p:cNvSpPr txBox="1"/>
          <p:nvPr/>
        </p:nvSpPr>
        <p:spPr>
          <a:xfrm>
            <a:off x="575035" y="1543341"/>
            <a:ext cx="11453567" cy="984885"/>
          </a:xfrm>
          <a:prstGeom prst="rect">
            <a:avLst/>
          </a:prstGeom>
          <a:noFill/>
        </p:spPr>
        <p:txBody>
          <a:bodyPr wrap="square">
            <a:spAutoFit/>
          </a:bodyPr>
          <a:lstStyle/>
          <a:p>
            <a:br>
              <a:rPr lang="en-US" sz="18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    “</a:t>
            </a:r>
            <a:r>
              <a:rPr lang="en-US" sz="4000" b="1" u="sng" dirty="0">
                <a:latin typeface="Times New Roman" panose="02020603050405020304" pitchFamily="18" charset="0"/>
                <a:cs typeface="Times New Roman" panose="02020603050405020304" pitchFamily="18" charset="0"/>
              </a:rPr>
              <a:t>Emotion and Activity based Music Player</a:t>
            </a:r>
            <a:r>
              <a:rPr lang="en-US" sz="4000" b="1" dirty="0">
                <a:latin typeface="Times New Roman" panose="02020603050405020304" pitchFamily="18" charset="0"/>
                <a:cs typeface="Times New Roman" panose="02020603050405020304" pitchFamily="18" charset="0"/>
              </a:rPr>
              <a:t>”</a:t>
            </a:r>
            <a:endParaRPr lang="en-IN" dirty="0"/>
          </a:p>
        </p:txBody>
      </p:sp>
      <p:sp>
        <p:nvSpPr>
          <p:cNvPr id="6" name="TextBox 5">
            <a:extLst>
              <a:ext uri="{FF2B5EF4-FFF2-40B4-BE49-F238E27FC236}">
                <a16:creationId xmlns:a16="http://schemas.microsoft.com/office/drawing/2014/main" id="{0489D0FE-12F2-57D3-BFBE-69CF9FA667E4}"/>
              </a:ext>
            </a:extLst>
          </p:cNvPr>
          <p:cNvSpPr txBox="1"/>
          <p:nvPr/>
        </p:nvSpPr>
        <p:spPr>
          <a:xfrm>
            <a:off x="3048786" y="2785318"/>
            <a:ext cx="6094428" cy="369332"/>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rPr>
              <a:t>PRESENTED BY:</a:t>
            </a:r>
          </a:p>
        </p:txBody>
      </p:sp>
      <p:graphicFrame>
        <p:nvGraphicFramePr>
          <p:cNvPr id="8" name="Table 7">
            <a:extLst>
              <a:ext uri="{FF2B5EF4-FFF2-40B4-BE49-F238E27FC236}">
                <a16:creationId xmlns:a16="http://schemas.microsoft.com/office/drawing/2014/main" id="{80027820-FD3A-D1DC-1A77-373D7206C563}"/>
              </a:ext>
            </a:extLst>
          </p:cNvPr>
          <p:cNvGraphicFramePr>
            <a:graphicFrameLocks noGrp="1"/>
          </p:cNvGraphicFramePr>
          <p:nvPr>
            <p:extLst>
              <p:ext uri="{D42A27DB-BD31-4B8C-83A1-F6EECF244321}">
                <p14:modId xmlns:p14="http://schemas.microsoft.com/office/powerpoint/2010/main" val="943515640"/>
              </p:ext>
            </p:extLst>
          </p:nvPr>
        </p:nvGraphicFramePr>
        <p:xfrm>
          <a:off x="3138340" y="3258500"/>
          <a:ext cx="6096000" cy="1788160"/>
        </p:xfrm>
        <a:graphic>
          <a:graphicData uri="http://schemas.openxmlformats.org/drawingml/2006/table">
            <a:tbl>
              <a:tblPr firstRow="1" bandRow="1">
                <a:tableStyleId>{7DF18680-E054-41AD-8BC1-D1AEF772440D}</a:tableStyleId>
              </a:tblPr>
              <a:tblGrid>
                <a:gridCol w="3048000">
                  <a:extLst>
                    <a:ext uri="{9D8B030D-6E8A-4147-A177-3AD203B41FA5}">
                      <a16:colId xmlns:a16="http://schemas.microsoft.com/office/drawing/2014/main" val="3336604813"/>
                    </a:ext>
                  </a:extLst>
                </a:gridCol>
                <a:gridCol w="3048000">
                  <a:extLst>
                    <a:ext uri="{9D8B030D-6E8A-4147-A177-3AD203B41FA5}">
                      <a16:colId xmlns:a16="http://schemas.microsoft.com/office/drawing/2014/main" val="2745297909"/>
                    </a:ext>
                  </a:extLst>
                </a:gridCol>
              </a:tblGrid>
              <a:tr h="0">
                <a:tc>
                  <a:txBody>
                    <a:bodyPr/>
                    <a:lstStyle/>
                    <a:p>
                      <a:pPr algn="ctr"/>
                      <a:r>
                        <a:rPr lang="en-US" sz="1400" b="1" dirty="0">
                          <a:solidFill>
                            <a:schemeClr val="tx1"/>
                          </a:solidFill>
                          <a:latin typeface="Times New Roman" panose="02020603050405020304" pitchFamily="18" charset="0"/>
                          <a:cs typeface="Times New Roman" panose="02020603050405020304" pitchFamily="18" charset="0"/>
                        </a:rPr>
                        <a:t>Roll No</a:t>
                      </a:r>
                      <a:endParaRPr lang="en-IN" sz="1400" b="1"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b="1" dirty="0">
                          <a:solidFill>
                            <a:schemeClr val="tx1"/>
                          </a:solidFill>
                          <a:latin typeface="Times New Roman" panose="02020603050405020304" pitchFamily="18" charset="0"/>
                          <a:cs typeface="Times New Roman" panose="02020603050405020304" pitchFamily="18" charset="0"/>
                        </a:rPr>
                        <a:t>Name</a:t>
                      </a:r>
                      <a:endParaRPr lang="en-IN" sz="14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8026716"/>
                  </a:ext>
                </a:extLst>
              </a:tr>
              <a:tr h="370840">
                <a:tc>
                  <a:txBody>
                    <a:bodyPr/>
                    <a:lstStyle/>
                    <a:p>
                      <a:r>
                        <a:rPr lang="en-US" sz="1400" dirty="0">
                          <a:solidFill>
                            <a:schemeClr val="tx1"/>
                          </a:solidFill>
                          <a:latin typeface="Times New Roman" panose="02020603050405020304" pitchFamily="18" charset="0"/>
                          <a:cs typeface="Times New Roman" panose="02020603050405020304" pitchFamily="18" charset="0"/>
                        </a:rPr>
                        <a:t>B400530636</a:t>
                      </a:r>
                      <a:endParaRPr lang="en-IN"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Arya Joshi</a:t>
                      </a:r>
                      <a:endParaRPr lang="en-IN"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54577311"/>
                  </a:ext>
                </a:extLst>
              </a:tr>
              <a:tr h="370840">
                <a:tc>
                  <a:txBody>
                    <a:bodyPr/>
                    <a:lstStyle/>
                    <a:p>
                      <a:r>
                        <a:rPr lang="en-US" sz="1400" dirty="0">
                          <a:solidFill>
                            <a:schemeClr val="tx1"/>
                          </a:solidFill>
                          <a:latin typeface="Times New Roman" panose="02020603050405020304" pitchFamily="18" charset="0"/>
                          <a:cs typeface="Times New Roman" panose="02020603050405020304" pitchFamily="18" charset="0"/>
                        </a:rPr>
                        <a:t>B400530626</a:t>
                      </a:r>
                      <a:endParaRPr lang="en-IN"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Abhimanyu Giri</a:t>
                      </a:r>
                      <a:endParaRPr lang="en-IN"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74921597"/>
                  </a:ext>
                </a:extLst>
              </a:tr>
              <a:tr h="370840">
                <a:tc>
                  <a:txBody>
                    <a:bodyPr/>
                    <a:lstStyle/>
                    <a:p>
                      <a:r>
                        <a:rPr lang="en-US" sz="1400" dirty="0">
                          <a:solidFill>
                            <a:schemeClr val="tx1"/>
                          </a:solidFill>
                          <a:latin typeface="Times New Roman" panose="02020603050405020304" pitchFamily="18" charset="0"/>
                          <a:cs typeface="Times New Roman" panose="02020603050405020304" pitchFamily="18" charset="0"/>
                        </a:rPr>
                        <a:t>B400530618</a:t>
                      </a:r>
                      <a:endParaRPr lang="en-IN"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Dnyaneshwari Dhumal</a:t>
                      </a:r>
                      <a:endParaRPr lang="en-IN"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28010763"/>
                  </a:ext>
                </a:extLst>
              </a:tr>
              <a:tr h="370840">
                <a:tc>
                  <a:txBody>
                    <a:bodyPr/>
                    <a:lstStyle/>
                    <a:p>
                      <a:r>
                        <a:rPr lang="en-US" sz="1400" dirty="0">
                          <a:solidFill>
                            <a:schemeClr val="tx1"/>
                          </a:solidFill>
                          <a:latin typeface="Times New Roman" panose="02020603050405020304" pitchFamily="18" charset="0"/>
                          <a:cs typeface="Times New Roman" panose="02020603050405020304" pitchFamily="18" charset="0"/>
                        </a:rPr>
                        <a:t>B400530624</a:t>
                      </a:r>
                      <a:endParaRPr lang="en-IN"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Akanksha Ghadge</a:t>
                      </a:r>
                      <a:endParaRPr lang="en-IN"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74924421"/>
                  </a:ext>
                </a:extLst>
              </a:tr>
            </a:tbl>
          </a:graphicData>
        </a:graphic>
      </p:graphicFrame>
      <p:sp>
        <p:nvSpPr>
          <p:cNvPr id="10" name="TextBox 9">
            <a:extLst>
              <a:ext uri="{FF2B5EF4-FFF2-40B4-BE49-F238E27FC236}">
                <a16:creationId xmlns:a16="http://schemas.microsoft.com/office/drawing/2014/main" id="{D195B1DC-6B50-B739-4FE1-FB239A3A2152}"/>
              </a:ext>
            </a:extLst>
          </p:cNvPr>
          <p:cNvSpPr txBox="1"/>
          <p:nvPr/>
        </p:nvSpPr>
        <p:spPr>
          <a:xfrm>
            <a:off x="3971042" y="5150510"/>
            <a:ext cx="6094428" cy="873572"/>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                       GUIDED BY:</a:t>
            </a:r>
            <a:r>
              <a:rPr lang="en-US" sz="1800" b="1" dirty="0">
                <a:latin typeface="Times New Roman" panose="02020603050405020304" pitchFamily="18" charset="0"/>
                <a:cs typeface="Times New Roman" panose="02020603050405020304" pitchFamily="18" charset="0"/>
              </a:rPr>
              <a:t> </a:t>
            </a:r>
          </a:p>
          <a:p>
            <a:pPr>
              <a:lnSpc>
                <a:spcPct val="150000"/>
              </a:lnSpc>
            </a:pPr>
            <a:r>
              <a:rPr lang="en-US" sz="1800" dirty="0">
                <a:latin typeface="Times New Roman" panose="02020603050405020304" pitchFamily="18" charset="0"/>
                <a:cs typeface="Times New Roman" panose="02020603050405020304" pitchFamily="18" charset="0"/>
              </a:rPr>
              <a:t>                Prof. Balaji </a:t>
            </a:r>
            <a:r>
              <a:rPr lang="en-US" sz="1800" dirty="0" err="1">
                <a:latin typeface="Times New Roman" panose="02020603050405020304" pitchFamily="18" charset="0"/>
                <a:cs typeface="Times New Roman" panose="02020603050405020304" pitchFamily="18" charset="0"/>
              </a:rPr>
              <a:t>Chaugule</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0506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44836-1978-DAFC-1303-BFBBC8635970}"/>
              </a:ext>
            </a:extLst>
          </p:cNvPr>
          <p:cNvSpPr>
            <a:spLocks noGrp="1"/>
          </p:cNvSpPr>
          <p:nvPr>
            <p:ph type="ctrTitle"/>
          </p:nvPr>
        </p:nvSpPr>
        <p:spPr>
          <a:xfrm>
            <a:off x="1524000" y="84841"/>
            <a:ext cx="9144000" cy="443061"/>
          </a:xfrm>
        </p:spPr>
        <p:txBody>
          <a:bodyPr>
            <a:normAutofit fontScale="90000"/>
          </a:bodyPr>
          <a:lstStyle/>
          <a:p>
            <a:br>
              <a:rPr lang="en-IN" sz="6000" b="1" dirty="0"/>
            </a:br>
            <a:endParaRPr lang="en-IN" dirty="0"/>
          </a:p>
        </p:txBody>
      </p:sp>
      <p:sp>
        <p:nvSpPr>
          <p:cNvPr id="3" name="Subtitle 2">
            <a:extLst>
              <a:ext uri="{FF2B5EF4-FFF2-40B4-BE49-F238E27FC236}">
                <a16:creationId xmlns:a16="http://schemas.microsoft.com/office/drawing/2014/main" id="{E6089C20-1622-C29E-1D41-F722C8FA56A4}"/>
              </a:ext>
            </a:extLst>
          </p:cNvPr>
          <p:cNvSpPr>
            <a:spLocks noGrp="1"/>
          </p:cNvSpPr>
          <p:nvPr>
            <p:ph type="subTitle" idx="1"/>
          </p:nvPr>
        </p:nvSpPr>
        <p:spPr>
          <a:xfrm>
            <a:off x="801278" y="306371"/>
            <a:ext cx="9678186" cy="3872060"/>
          </a:xfrm>
        </p:spPr>
        <p:txBody>
          <a:bodyPr>
            <a:normAutofit fontScale="25000" lnSpcReduction="20000"/>
          </a:bodyPr>
          <a:lstStyle/>
          <a:p>
            <a:pPr>
              <a:lnSpc>
                <a:spcPct val="150000"/>
              </a:lnSpc>
            </a:pPr>
            <a:r>
              <a:rPr lang="en-IN" sz="9600" b="1" u="sng" dirty="0">
                <a:latin typeface="Times New Roman" panose="02020603050405020304" pitchFamily="18" charset="0"/>
                <a:cs typeface="Times New Roman" panose="02020603050405020304" pitchFamily="18" charset="0"/>
              </a:rPr>
              <a:t>Outline</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Introduction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Literature survey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 Purpose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Scope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Objective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Algorithm &amp; Technology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System Architecture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Data flow diagram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System Output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Advantage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Disadvantage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 Conclusion  </a:t>
            </a:r>
          </a:p>
          <a:p>
            <a:pPr marL="285750" indent="-285750" algn="l">
              <a:lnSpc>
                <a:spcPct val="150000"/>
              </a:lnSpc>
              <a:buFont typeface="Wingdings" panose="05000000000000000000" pitchFamily="2" charset="2"/>
              <a:buChar char="Ø"/>
            </a:pPr>
            <a:r>
              <a:rPr lang="en-IN" sz="6400" b="1" dirty="0">
                <a:latin typeface="Times New Roman" panose="02020603050405020304" pitchFamily="18" charset="0"/>
                <a:cs typeface="Times New Roman" panose="02020603050405020304" pitchFamily="18" charset="0"/>
              </a:rPr>
              <a:t>Reference </a:t>
            </a:r>
          </a:p>
          <a:p>
            <a:endParaRPr lang="en-IN" dirty="0"/>
          </a:p>
        </p:txBody>
      </p:sp>
    </p:spTree>
    <p:extLst>
      <p:ext uri="{BB962C8B-B14F-4D97-AF65-F5344CB8AC3E}">
        <p14:creationId xmlns:p14="http://schemas.microsoft.com/office/powerpoint/2010/main" val="2868764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CFE3B2-BF84-619E-6488-71C048EE7696}"/>
              </a:ext>
            </a:extLst>
          </p:cNvPr>
          <p:cNvSpPr txBox="1"/>
          <p:nvPr/>
        </p:nvSpPr>
        <p:spPr>
          <a:xfrm>
            <a:off x="2425046" y="211259"/>
            <a:ext cx="6094428" cy="523220"/>
          </a:xfrm>
          <a:prstGeom prst="rect">
            <a:avLst/>
          </a:prstGeom>
          <a:noFill/>
        </p:spPr>
        <p:txBody>
          <a:bodyPr wrap="square">
            <a:spAutoFit/>
          </a:bodyPr>
          <a:lstStyle/>
          <a:p>
            <a:pPr algn="ctr"/>
            <a:r>
              <a:rPr lang="en-IN" sz="2800" b="1" u="sng" dirty="0">
                <a:latin typeface="Times New Roman" panose="02020603050405020304" pitchFamily="18" charset="0"/>
                <a:cs typeface="Times New Roman" panose="02020603050405020304" pitchFamily="18" charset="0"/>
              </a:rPr>
              <a:t>Introduction</a:t>
            </a:r>
            <a:endParaRPr lang="en-IN" sz="2800" dirty="0"/>
          </a:p>
        </p:txBody>
      </p:sp>
      <p:sp>
        <p:nvSpPr>
          <p:cNvPr id="5" name="TextBox 4">
            <a:extLst>
              <a:ext uri="{FF2B5EF4-FFF2-40B4-BE49-F238E27FC236}">
                <a16:creationId xmlns:a16="http://schemas.microsoft.com/office/drawing/2014/main" id="{5BAE7FA2-D87D-24B7-B2FE-CF8572E79EEC}"/>
              </a:ext>
            </a:extLst>
          </p:cNvPr>
          <p:cNvSpPr txBox="1"/>
          <p:nvPr/>
        </p:nvSpPr>
        <p:spPr>
          <a:xfrm>
            <a:off x="989815" y="1332577"/>
            <a:ext cx="10048974" cy="4202882"/>
          </a:xfrm>
          <a:prstGeom prst="rect">
            <a:avLst/>
          </a:prstGeom>
          <a:noFill/>
        </p:spPr>
        <p:txBody>
          <a:bodyPr wrap="square">
            <a:spAutoFit/>
          </a:bodyPr>
          <a:lstStyle/>
          <a:p>
            <a:pPr algn="just">
              <a:lnSpc>
                <a:spcPct val="150000"/>
              </a:lnSpc>
            </a:pPr>
            <a:r>
              <a:rPr lang="en-US" dirty="0"/>
              <a:t>This project focuses on developing a smart music player that can understand the user's emotions and activities to suggest songs that match their current mood or behavior. Music has a strong connection with how people feel, and listening to the right song at the right time can improve mood, reduce stress, and create a better experience. Our system uses facial emotion detection to analyze the user’s expressions in real-time and also allows the user to enter text, which is then analyzed to understand how they feel. Along with emotion detection, the system uses activity recognition to find out what the user is doing, such as relaxing, studying, or exercising. Based on this combined information, the player selects and plays music that fits the user’s emotional state or activity. This makes the music experience more personalized, interactive, and enjoyable. The goal is to make technology understand human feelings better and provide users with a smarter way to listen to music that truly connects with their mood</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1778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CEB95-0474-31E5-B013-1B44CB3ED8C5}"/>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CFAF8C13-B3F2-AF03-C592-7F53DAC7AB2A}"/>
              </a:ext>
            </a:extLst>
          </p:cNvPr>
          <p:cNvSpPr txBox="1"/>
          <p:nvPr/>
        </p:nvSpPr>
        <p:spPr>
          <a:xfrm>
            <a:off x="838200" y="1690688"/>
            <a:ext cx="10276002" cy="1991827"/>
          </a:xfrm>
          <a:prstGeom prst="rect">
            <a:avLst/>
          </a:prstGeom>
          <a:noFill/>
        </p:spPr>
        <p:txBody>
          <a:bodyPr wrap="square">
            <a:spAutoFit/>
          </a:bodyPr>
          <a:lstStyle/>
          <a:p>
            <a:pPr marL="285750" indent="-285750" algn="just">
              <a:lnSpc>
                <a:spcPct val="200000"/>
              </a:lnSpc>
              <a:buFont typeface="Wingdings" panose="05000000000000000000" pitchFamily="2" charset="2"/>
              <a:buChar char="q"/>
            </a:pPr>
            <a:r>
              <a:rPr lang="en-US" sz="1600" dirty="0"/>
              <a:t>Most music players don’t understand how users feel or what they’re doing. This project builds an </a:t>
            </a:r>
            <a:r>
              <a:rPr lang="en-US" sz="1600" b="1" dirty="0"/>
              <a:t>Emotion and Activity Based Music Player</a:t>
            </a:r>
            <a:r>
              <a:rPr lang="en-US" sz="1600" dirty="0"/>
              <a:t> that uses </a:t>
            </a:r>
            <a:r>
              <a:rPr lang="en-US" sz="1600" b="1" dirty="0"/>
              <a:t>facial expressions, text input, and activity detection</a:t>
            </a:r>
            <a:r>
              <a:rPr lang="en-US" sz="1600" dirty="0"/>
              <a:t> to suggest songs. It gives users a </a:t>
            </a:r>
            <a:r>
              <a:rPr lang="en-US" sz="1600" b="1" dirty="0"/>
              <a:t>personalized music experience</a:t>
            </a:r>
            <a:r>
              <a:rPr lang="en-US" sz="1600" dirty="0"/>
              <a:t> by playing songs that match their mood and activity, making music more meaningful and enjoyable.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1573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D99A5A8-4695-F5ED-46DD-0619FE8FB7AD}"/>
              </a:ext>
            </a:extLst>
          </p:cNvPr>
          <p:cNvGraphicFramePr>
            <a:graphicFrameLocks noGrp="1"/>
          </p:cNvGraphicFramePr>
          <p:nvPr>
            <p:extLst>
              <p:ext uri="{D42A27DB-BD31-4B8C-83A1-F6EECF244321}">
                <p14:modId xmlns:p14="http://schemas.microsoft.com/office/powerpoint/2010/main" val="108464734"/>
              </p:ext>
            </p:extLst>
          </p:nvPr>
        </p:nvGraphicFramePr>
        <p:xfrm>
          <a:off x="274320" y="1564851"/>
          <a:ext cx="11048532" cy="4593612"/>
        </p:xfrm>
        <a:graphic>
          <a:graphicData uri="http://schemas.openxmlformats.org/drawingml/2006/table">
            <a:tbl>
              <a:tblPr firstRow="1" bandRow="1">
                <a:tableStyleId>{5C22544A-7EE6-4342-B048-85BDC9FD1C3A}</a:tableStyleId>
              </a:tblPr>
              <a:tblGrid>
                <a:gridCol w="899541">
                  <a:extLst>
                    <a:ext uri="{9D8B030D-6E8A-4147-A177-3AD203B41FA5}">
                      <a16:colId xmlns:a16="http://schemas.microsoft.com/office/drawing/2014/main" val="2827060226"/>
                    </a:ext>
                  </a:extLst>
                </a:gridCol>
                <a:gridCol w="1234059">
                  <a:extLst>
                    <a:ext uri="{9D8B030D-6E8A-4147-A177-3AD203B41FA5}">
                      <a16:colId xmlns:a16="http://schemas.microsoft.com/office/drawing/2014/main" val="64724178"/>
                    </a:ext>
                  </a:extLst>
                </a:gridCol>
                <a:gridCol w="812800">
                  <a:extLst>
                    <a:ext uri="{9D8B030D-6E8A-4147-A177-3AD203B41FA5}">
                      <a16:colId xmlns:a16="http://schemas.microsoft.com/office/drawing/2014/main" val="4024602574"/>
                    </a:ext>
                  </a:extLst>
                </a:gridCol>
                <a:gridCol w="2483757">
                  <a:extLst>
                    <a:ext uri="{9D8B030D-6E8A-4147-A177-3AD203B41FA5}">
                      <a16:colId xmlns:a16="http://schemas.microsoft.com/office/drawing/2014/main" val="2166241969"/>
                    </a:ext>
                  </a:extLst>
                </a:gridCol>
                <a:gridCol w="1854477">
                  <a:extLst>
                    <a:ext uri="{9D8B030D-6E8A-4147-A177-3AD203B41FA5}">
                      <a16:colId xmlns:a16="http://schemas.microsoft.com/office/drawing/2014/main" val="2945242956"/>
                    </a:ext>
                  </a:extLst>
                </a:gridCol>
                <a:gridCol w="3763898">
                  <a:extLst>
                    <a:ext uri="{9D8B030D-6E8A-4147-A177-3AD203B41FA5}">
                      <a16:colId xmlns:a16="http://schemas.microsoft.com/office/drawing/2014/main" val="450265626"/>
                    </a:ext>
                  </a:extLst>
                </a:gridCol>
              </a:tblGrid>
              <a:tr h="1332252">
                <a:tc>
                  <a:txBody>
                    <a:bodyPr/>
                    <a:lstStyle/>
                    <a:p>
                      <a:r>
                        <a:rPr lang="en-US" sz="1600" dirty="0" err="1">
                          <a:latin typeface="Times New Roman" panose="02020603050405020304" pitchFamily="18" charset="0"/>
                          <a:cs typeface="Times New Roman" panose="02020603050405020304" pitchFamily="18" charset="0"/>
                        </a:rPr>
                        <a:t>Sr.No</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Title of Paper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Published Year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Methodology</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Technology/Algorithm Used</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Limitations / Research</a:t>
                      </a:r>
                      <a:r>
                        <a:rPr lang="en-US" sz="1600" baseline="0" dirty="0">
                          <a:latin typeface="Times New Roman" panose="02020603050405020304" pitchFamily="18" charset="0"/>
                          <a:cs typeface="Times New Roman" panose="02020603050405020304" pitchFamily="18" charset="0"/>
                        </a:rPr>
                        <a:t> Gap</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20343673"/>
                  </a:ext>
                </a:extLst>
              </a:tr>
              <a:tr h="2795774">
                <a:tc>
                  <a:txBody>
                    <a:bodyPr/>
                    <a:lstStyle/>
                    <a:p>
                      <a:r>
                        <a:rPr lang="en-US" sz="1600" b="1" dirty="0">
                          <a:latin typeface="Times New Roman" panose="02020603050405020304" pitchFamily="18" charset="0"/>
                          <a:cs typeface="Times New Roman" panose="02020603050405020304" pitchFamily="18" charset="0"/>
                        </a:rPr>
                        <a:t>1</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dk1"/>
                          </a:solidFill>
                          <a:effectLst/>
                          <a:latin typeface="Times New Roman" panose="02020603050405020304" pitchFamily="18" charset="0"/>
                          <a:ea typeface="+mn-ea"/>
                          <a:cs typeface="Times New Roman" panose="02020603050405020304" pitchFamily="18" charset="0"/>
                        </a:rPr>
                        <a:t>A Research Proposal for the Emotion And Activity Based Music Player Using Machine Learning</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1" kern="1200" dirty="0">
                          <a:solidFill>
                            <a:schemeClr val="dk1"/>
                          </a:solidFill>
                          <a:effectLst/>
                          <a:latin typeface="Times New Roman" panose="02020603050405020304" pitchFamily="18" charset="0"/>
                          <a:ea typeface="+mn-ea"/>
                          <a:cs typeface="Times New Roman" panose="02020603050405020304" pitchFamily="18" charset="0"/>
                        </a:rPr>
                        <a:t>2025</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kern="1200" dirty="0">
                          <a:solidFill>
                            <a:schemeClr val="dk1"/>
                          </a:solidFill>
                          <a:effectLst/>
                          <a:latin typeface="Times New Roman" panose="02020603050405020304" pitchFamily="18" charset="0"/>
                          <a:ea typeface="+mn-ea"/>
                          <a:cs typeface="Times New Roman" panose="02020603050405020304" pitchFamily="18" charset="0"/>
                        </a:rPr>
                        <a:t>The ML-powered music recommendation system is built on an activity and emotions diagram that illustrates how it would function by identifying human emotions and suggesting music based on the individual's activity or mood.</a:t>
                      </a:r>
                      <a:endParaRPr lang="en-IN" sz="1600" b="1" kern="1200" dirty="0">
                        <a:solidFill>
                          <a:schemeClr val="dk1"/>
                        </a:solidFill>
                        <a:effectLst/>
                        <a:latin typeface="Times New Roman" panose="02020603050405020304" pitchFamily="18" charset="0"/>
                        <a:ea typeface="+mn-ea"/>
                        <a:cs typeface="Times New Roman" panose="02020603050405020304" pitchFamily="18" charset="0"/>
                      </a:endParaRPr>
                    </a:p>
                    <a:p>
                      <a:pPr marL="0" indent="0" algn="l">
                        <a:buFont typeface="Arial" panose="020B0604020202020204" pitchFamily="34" charset="0"/>
                        <a:buNone/>
                      </a:pPr>
                      <a:endParaRPr lang="en-US" sz="1600" b="0"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SVM , CNN for Image recognition , facial expression</a:t>
                      </a:r>
                      <a:r>
                        <a:rPr lang="en-US" sz="1600" b="0" dirty="0">
                          <a:latin typeface="Times New Roman" panose="02020603050405020304" pitchFamily="18" charset="0"/>
                          <a:cs typeface="Times New Roman" panose="02020603050405020304" pitchFamily="18" charset="0"/>
                        </a:rPr>
                        <a:t>,</a:t>
                      </a:r>
                    </a:p>
                    <a:p>
                      <a:r>
                        <a:rPr lang="en-IN" sz="1600" b="1" kern="1200" dirty="0">
                          <a:solidFill>
                            <a:schemeClr val="dk1"/>
                          </a:solidFill>
                          <a:effectLst/>
                          <a:latin typeface="Times New Roman" panose="02020603050405020304" pitchFamily="18" charset="0"/>
                          <a:ea typeface="+mn-ea"/>
                          <a:cs typeface="Times New Roman" panose="02020603050405020304" pitchFamily="18" charset="0"/>
                        </a:rPr>
                        <a:t>CNN processes image/audio data through multiple convolutional layers</a:t>
                      </a:r>
                      <a:endParaRPr lang="en-US" sz="1600" b="1"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Limited offline use</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6445570"/>
                  </a:ext>
                </a:extLst>
              </a:tr>
            </a:tbl>
          </a:graphicData>
        </a:graphic>
      </p:graphicFrame>
      <p:sp>
        <p:nvSpPr>
          <p:cNvPr id="4" name="TextBox 3">
            <a:extLst>
              <a:ext uri="{FF2B5EF4-FFF2-40B4-BE49-F238E27FC236}">
                <a16:creationId xmlns:a16="http://schemas.microsoft.com/office/drawing/2014/main" id="{3F435BB0-8757-A46D-778F-BCB3CAD610E3}"/>
              </a:ext>
            </a:extLst>
          </p:cNvPr>
          <p:cNvSpPr txBox="1"/>
          <p:nvPr/>
        </p:nvSpPr>
        <p:spPr>
          <a:xfrm>
            <a:off x="3452568" y="607185"/>
            <a:ext cx="6094428" cy="523220"/>
          </a:xfrm>
          <a:prstGeom prst="rect">
            <a:avLst/>
          </a:prstGeom>
          <a:noFill/>
        </p:spPr>
        <p:txBody>
          <a:bodyPr wrap="square">
            <a:spAutoFit/>
          </a:bodyPr>
          <a:lstStyle/>
          <a:p>
            <a:pPr algn="ctr"/>
            <a:r>
              <a:rPr lang="en-IN" sz="2800" b="1" u="sng" dirty="0">
                <a:latin typeface="Times New Roman" panose="02020603050405020304" pitchFamily="18" charset="0"/>
                <a:cs typeface="Times New Roman" panose="02020603050405020304" pitchFamily="18" charset="0"/>
              </a:rPr>
              <a:t>Literature</a:t>
            </a:r>
            <a:r>
              <a:rPr lang="en-IN" sz="1800" u="sng" dirty="0">
                <a:latin typeface="Times New Roman" panose="02020603050405020304" pitchFamily="18" charset="0"/>
                <a:cs typeface="Times New Roman" panose="02020603050405020304" pitchFamily="18" charset="0"/>
              </a:rPr>
              <a:t> </a:t>
            </a:r>
            <a:r>
              <a:rPr lang="en-IN" sz="2800" b="1" u="sng" dirty="0">
                <a:latin typeface="Times New Roman" panose="02020603050405020304" pitchFamily="18" charset="0"/>
                <a:cs typeface="Times New Roman" panose="02020603050405020304" pitchFamily="18" charset="0"/>
              </a:rPr>
              <a:t>Review</a:t>
            </a:r>
            <a:endParaRPr lang="en-IN" b="1" dirty="0"/>
          </a:p>
        </p:txBody>
      </p:sp>
    </p:spTree>
    <p:extLst>
      <p:ext uri="{BB962C8B-B14F-4D97-AF65-F5344CB8AC3E}">
        <p14:creationId xmlns:p14="http://schemas.microsoft.com/office/powerpoint/2010/main" val="2386216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E408B56-4CC1-C5EF-7DCE-F7A4DCC81F81}"/>
              </a:ext>
            </a:extLst>
          </p:cNvPr>
          <p:cNvGraphicFramePr>
            <a:graphicFrameLocks noGrp="1"/>
          </p:cNvGraphicFramePr>
          <p:nvPr>
            <p:extLst>
              <p:ext uri="{D42A27DB-BD31-4B8C-83A1-F6EECF244321}">
                <p14:modId xmlns:p14="http://schemas.microsoft.com/office/powerpoint/2010/main" val="3164156733"/>
              </p:ext>
            </p:extLst>
          </p:nvPr>
        </p:nvGraphicFramePr>
        <p:xfrm>
          <a:off x="374581" y="289560"/>
          <a:ext cx="11208471" cy="6278880"/>
        </p:xfrm>
        <a:graphic>
          <a:graphicData uri="http://schemas.openxmlformats.org/drawingml/2006/table">
            <a:tbl>
              <a:tblPr firstRow="1" bandRow="1">
                <a:tableStyleId>{5C22544A-7EE6-4342-B048-85BDC9FD1C3A}</a:tableStyleId>
              </a:tblPr>
              <a:tblGrid>
                <a:gridCol w="329469">
                  <a:extLst>
                    <a:ext uri="{9D8B030D-6E8A-4147-A177-3AD203B41FA5}">
                      <a16:colId xmlns:a16="http://schemas.microsoft.com/office/drawing/2014/main" val="176728337"/>
                    </a:ext>
                  </a:extLst>
                </a:gridCol>
                <a:gridCol w="1448291">
                  <a:extLst>
                    <a:ext uri="{9D8B030D-6E8A-4147-A177-3AD203B41FA5}">
                      <a16:colId xmlns:a16="http://schemas.microsoft.com/office/drawing/2014/main" val="1317524945"/>
                    </a:ext>
                  </a:extLst>
                </a:gridCol>
                <a:gridCol w="776615">
                  <a:extLst>
                    <a:ext uri="{9D8B030D-6E8A-4147-A177-3AD203B41FA5}">
                      <a16:colId xmlns:a16="http://schemas.microsoft.com/office/drawing/2014/main" val="2740901803"/>
                    </a:ext>
                  </a:extLst>
                </a:gridCol>
                <a:gridCol w="3645485">
                  <a:extLst>
                    <a:ext uri="{9D8B030D-6E8A-4147-A177-3AD203B41FA5}">
                      <a16:colId xmlns:a16="http://schemas.microsoft.com/office/drawing/2014/main" val="3084304421"/>
                    </a:ext>
                  </a:extLst>
                </a:gridCol>
                <a:gridCol w="2522925">
                  <a:extLst>
                    <a:ext uri="{9D8B030D-6E8A-4147-A177-3AD203B41FA5}">
                      <a16:colId xmlns:a16="http://schemas.microsoft.com/office/drawing/2014/main" val="2045879710"/>
                    </a:ext>
                  </a:extLst>
                </a:gridCol>
                <a:gridCol w="2485686">
                  <a:extLst>
                    <a:ext uri="{9D8B030D-6E8A-4147-A177-3AD203B41FA5}">
                      <a16:colId xmlns:a16="http://schemas.microsoft.com/office/drawing/2014/main" val="381922729"/>
                    </a:ext>
                  </a:extLst>
                </a:gridCol>
              </a:tblGrid>
              <a:tr h="1571784">
                <a:tc>
                  <a:txBody>
                    <a:bodyPr/>
                    <a:lstStyle/>
                    <a:p>
                      <a:r>
                        <a:rPr lang="en-US"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 Emotion based Music</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2024</a:t>
                      </a:r>
                    </a:p>
                  </a:txBody>
                  <a:tcPr/>
                </a:tc>
                <a:tc>
                  <a:txBody>
                    <a:bodyPr/>
                    <a:lstStyle/>
                    <a:p>
                      <a:pPr marL="285750" indent="-285750" algn="l">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Data Collection </a:t>
                      </a:r>
                    </a:p>
                    <a:p>
                      <a:pPr marL="285750" indent="-285750" algn="l">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Data</a:t>
                      </a:r>
                    </a:p>
                    <a:p>
                      <a:pPr marL="0" indent="0" algn="l">
                        <a:buFont typeface="Arial" panose="020B0604020202020204" pitchFamily="34" charset="0"/>
                        <a:buNone/>
                      </a:pPr>
                      <a:r>
                        <a:rPr lang="en-US" sz="1600" b="1" dirty="0">
                          <a:latin typeface="Times New Roman" panose="02020603050405020304" pitchFamily="18" charset="0"/>
                          <a:cs typeface="Times New Roman" panose="02020603050405020304" pitchFamily="18" charset="0"/>
                        </a:rPr>
                        <a:t>   Preprocessing</a:t>
                      </a:r>
                    </a:p>
                    <a:p>
                      <a:pPr marL="285750" indent="-285750" algn="l">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Emotion Detection</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txBody>
                  <a:tcPr/>
                </a:tc>
                <a:tc>
                  <a:txBody>
                    <a:bodyPr/>
                    <a:lstStyle/>
                    <a:p>
                      <a:pPr marL="0" indent="0">
                        <a:buFont typeface="Arial" panose="020B0604020202020204" pitchFamily="34" charset="0"/>
                        <a:buNone/>
                      </a:pPr>
                      <a:r>
                        <a:rPr lang="en-US" sz="1600" b="1" dirty="0">
                          <a:latin typeface="Times New Roman" panose="02020603050405020304" pitchFamily="18" charset="0"/>
                          <a:cs typeface="Times New Roman" panose="02020603050405020304" pitchFamily="18" charset="0"/>
                        </a:rPr>
                        <a:t>Emotion Recognition:</a:t>
                      </a:r>
                    </a:p>
                    <a:p>
                      <a:r>
                        <a:rPr lang="en-US" sz="1600" b="0" dirty="0">
                          <a:latin typeface="Times New Roman" panose="02020603050405020304" pitchFamily="18" charset="0"/>
                          <a:cs typeface="Times New Roman" panose="02020603050405020304" pitchFamily="18" charset="0"/>
                        </a:rPr>
                        <a:t>CNN and RNN for facial and voice emotion analysis.</a:t>
                      </a:r>
                    </a:p>
                    <a:p>
                      <a:pPr marL="0" indent="0">
                        <a:buFont typeface="Arial" panose="020B0604020202020204" pitchFamily="34" charset="0"/>
                        <a:buNone/>
                      </a:pPr>
                      <a:r>
                        <a:rPr lang="en-US" sz="1600" b="1" dirty="0">
                          <a:latin typeface="Times New Roman" panose="02020603050405020304" pitchFamily="18" charset="0"/>
                          <a:cs typeface="Times New Roman" panose="02020603050405020304" pitchFamily="18" charset="0"/>
                        </a:rPr>
                        <a:t>Activity Recognition</a:t>
                      </a:r>
                      <a:endParaRPr lang="en-US" sz="1600" b="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1600" b="1" dirty="0">
                          <a:latin typeface="Times New Roman" panose="02020603050405020304" pitchFamily="18" charset="0"/>
                          <a:cs typeface="Times New Roman" panose="02020603050405020304" pitchFamily="18" charset="0"/>
                        </a:rPr>
                        <a:t>Audio Feature Extraction</a:t>
                      </a:r>
                    </a:p>
                    <a:p>
                      <a:r>
                        <a:rPr lang="en-US" sz="1600" b="0" dirty="0">
                          <a:latin typeface="Times New Roman" panose="02020603050405020304" pitchFamily="18" charset="0"/>
                          <a:cs typeface="Times New Roman" panose="02020603050405020304" pitchFamily="18" charset="0"/>
                        </a:rPr>
                        <a:t>MFCC and spectral features for analyzing music.</a:t>
                      </a:r>
                    </a:p>
                    <a:p>
                      <a:pPr marL="285750" indent="-285750">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Emotion Detection: </a:t>
                      </a:r>
                      <a:r>
                        <a:rPr lang="en-IN" sz="1600" b="0" dirty="0">
                          <a:latin typeface="Times New Roman" panose="02020603050405020304" pitchFamily="18" charset="0"/>
                          <a:cs typeface="Times New Roman" panose="02020603050405020304" pitchFamily="18" charset="0"/>
                        </a:rPr>
                        <a:t>Inaccurate recognition of complex emotions. </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Privacy Issues: </a:t>
                      </a:r>
                      <a:r>
                        <a:rPr lang="en-IN" sz="1600" b="0" dirty="0">
                          <a:latin typeface="Times New Roman" panose="02020603050405020304" pitchFamily="18" charset="0"/>
                          <a:cs typeface="Times New Roman" panose="02020603050405020304" pitchFamily="18" charset="0"/>
                        </a:rPr>
                        <a:t>Continuous data collection raises concerns.</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Narrow Emotional Range</a:t>
                      </a:r>
                      <a:r>
                        <a:rPr lang="en-IN" sz="1600" b="0" dirty="0">
                          <a:latin typeface="Times New Roman" panose="02020603050405020304" pitchFamily="18" charset="0"/>
                          <a:cs typeface="Times New Roman" panose="02020603050405020304" pitchFamily="18" charset="0"/>
                        </a:rPr>
                        <a:t>: Limited to basic emotions.</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Feedback Mechanisms: </a:t>
                      </a:r>
                      <a:r>
                        <a:rPr lang="en-IN" sz="1600" b="0" dirty="0">
                          <a:latin typeface="Times New Roman" panose="02020603050405020304" pitchFamily="18" charset="0"/>
                          <a:cs typeface="Times New Roman" panose="02020603050405020304" pitchFamily="18" charset="0"/>
                        </a:rPr>
                        <a:t>Lacks user feedback integration.</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Long-Term Studies: </a:t>
                      </a:r>
                      <a:r>
                        <a:rPr lang="en-IN" sz="1600" b="0" dirty="0">
                          <a:latin typeface="Times New Roman" panose="02020603050405020304" pitchFamily="18" charset="0"/>
                          <a:cs typeface="Times New Roman" panose="02020603050405020304" pitchFamily="18" charset="0"/>
                        </a:rPr>
                        <a:t>Insufficient research on user interactions</a:t>
                      </a:r>
                    </a:p>
                  </a:txBody>
                  <a:tcPr/>
                </a:tc>
                <a:extLst>
                  <a:ext uri="{0D108BD9-81ED-4DB2-BD59-A6C34878D82A}">
                    <a16:rowId xmlns:a16="http://schemas.microsoft.com/office/drawing/2014/main" val="1159233305"/>
                  </a:ext>
                </a:extLst>
              </a:tr>
              <a:tr h="1571784">
                <a:tc>
                  <a:txBody>
                    <a:bodyPr/>
                    <a:lstStyle/>
                    <a:p>
                      <a:r>
                        <a:rPr lang="en-US"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err="1">
                          <a:latin typeface="Times New Roman" panose="02020603050405020304" pitchFamily="18" charset="0"/>
                          <a:cs typeface="Times New Roman" panose="02020603050405020304" pitchFamily="18" charset="0"/>
                        </a:rPr>
                        <a:t>Emotify</a:t>
                      </a:r>
                      <a:r>
                        <a:rPr lang="en-US" sz="1600" dirty="0">
                          <a:latin typeface="Times New Roman" panose="02020603050405020304" pitchFamily="18" charset="0"/>
                          <a:cs typeface="Times New Roman" panose="02020603050405020304" pitchFamily="18" charset="0"/>
                        </a:rPr>
                        <a:t>-Emotion Based music Player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2023</a:t>
                      </a: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Collection: </a:t>
                      </a:r>
                      <a:r>
                        <a:rPr lang="en-IN" sz="1600" b="0" dirty="0">
                          <a:latin typeface="Times New Roman" panose="02020603050405020304" pitchFamily="18" charset="0"/>
                          <a:cs typeface="Times New Roman" panose="02020603050405020304" pitchFamily="18" charset="0"/>
                        </a:rPr>
                        <a:t>Gather music and user mood data.</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Mood Detection</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Preprocessing</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Emotion Recognition</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User Interface</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Testing</a:t>
                      </a:r>
                      <a:endParaRPr lang="en-IN" sz="1600" b="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Frontend: </a:t>
                      </a:r>
                      <a:r>
                        <a:rPr lang="en-IN" sz="1600" b="0" dirty="0">
                          <a:latin typeface="Times New Roman" panose="02020603050405020304" pitchFamily="18" charset="0"/>
                          <a:cs typeface="Times New Roman" panose="02020603050405020304" pitchFamily="18" charset="0"/>
                        </a:rPr>
                        <a:t>HTML, CSS, JavaScript (React.js or Vue.js).</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Backend</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ML</a:t>
                      </a:r>
                      <a:endParaRPr lang="en-IN" sz="16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Privacy: </a:t>
                      </a:r>
                      <a:r>
                        <a:rPr lang="en-IN" sz="1600" b="0" dirty="0">
                          <a:latin typeface="Times New Roman" panose="02020603050405020304" pitchFamily="18" charset="0"/>
                          <a:cs typeface="Times New Roman" panose="02020603050405020304" pitchFamily="18" charset="0"/>
                        </a:rPr>
                        <a:t>Concerns data collection.</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Emotion Scope</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Real-Time Issues</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Scalability</a:t>
                      </a:r>
                      <a:endParaRPr lang="en-IN" sz="1600" b="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88858979"/>
                  </a:ext>
                </a:extLst>
              </a:tr>
            </a:tbl>
          </a:graphicData>
        </a:graphic>
      </p:graphicFrame>
    </p:spTree>
    <p:extLst>
      <p:ext uri="{BB962C8B-B14F-4D97-AF65-F5344CB8AC3E}">
        <p14:creationId xmlns:p14="http://schemas.microsoft.com/office/powerpoint/2010/main" val="243980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3C1B4C9-5ABC-2F13-1700-5C0374019D4F}"/>
              </a:ext>
            </a:extLst>
          </p:cNvPr>
          <p:cNvGraphicFramePr>
            <a:graphicFrameLocks noGrp="1"/>
          </p:cNvGraphicFramePr>
          <p:nvPr>
            <p:extLst>
              <p:ext uri="{D42A27DB-BD31-4B8C-83A1-F6EECF244321}">
                <p14:modId xmlns:p14="http://schemas.microsoft.com/office/powerpoint/2010/main" val="2572260039"/>
              </p:ext>
            </p:extLst>
          </p:nvPr>
        </p:nvGraphicFramePr>
        <p:xfrm>
          <a:off x="300478" y="175934"/>
          <a:ext cx="11435500" cy="6096066"/>
        </p:xfrm>
        <a:graphic>
          <a:graphicData uri="http://schemas.openxmlformats.org/drawingml/2006/table">
            <a:tbl>
              <a:tblPr firstRow="1" bandRow="1">
                <a:tableStyleId>{5C22544A-7EE6-4342-B048-85BDC9FD1C3A}</a:tableStyleId>
              </a:tblPr>
              <a:tblGrid>
                <a:gridCol w="288101">
                  <a:extLst>
                    <a:ext uri="{9D8B030D-6E8A-4147-A177-3AD203B41FA5}">
                      <a16:colId xmlns:a16="http://schemas.microsoft.com/office/drawing/2014/main" val="1952215417"/>
                    </a:ext>
                  </a:extLst>
                </a:gridCol>
                <a:gridCol w="1173840">
                  <a:extLst>
                    <a:ext uri="{9D8B030D-6E8A-4147-A177-3AD203B41FA5}">
                      <a16:colId xmlns:a16="http://schemas.microsoft.com/office/drawing/2014/main" val="1140772411"/>
                    </a:ext>
                  </a:extLst>
                </a:gridCol>
                <a:gridCol w="697583">
                  <a:extLst>
                    <a:ext uri="{9D8B030D-6E8A-4147-A177-3AD203B41FA5}">
                      <a16:colId xmlns:a16="http://schemas.microsoft.com/office/drawing/2014/main" val="1202242485"/>
                    </a:ext>
                  </a:extLst>
                </a:gridCol>
                <a:gridCol w="2988297">
                  <a:extLst>
                    <a:ext uri="{9D8B030D-6E8A-4147-A177-3AD203B41FA5}">
                      <a16:colId xmlns:a16="http://schemas.microsoft.com/office/drawing/2014/main" val="3624564180"/>
                    </a:ext>
                  </a:extLst>
                </a:gridCol>
                <a:gridCol w="2639505">
                  <a:extLst>
                    <a:ext uri="{9D8B030D-6E8A-4147-A177-3AD203B41FA5}">
                      <a16:colId xmlns:a16="http://schemas.microsoft.com/office/drawing/2014/main" val="3586036379"/>
                    </a:ext>
                  </a:extLst>
                </a:gridCol>
                <a:gridCol w="3648174">
                  <a:extLst>
                    <a:ext uri="{9D8B030D-6E8A-4147-A177-3AD203B41FA5}">
                      <a16:colId xmlns:a16="http://schemas.microsoft.com/office/drawing/2014/main" val="2149850092"/>
                    </a:ext>
                  </a:extLst>
                </a:gridCol>
              </a:tblGrid>
              <a:tr h="3048033">
                <a:tc>
                  <a:txBody>
                    <a:bodyPr/>
                    <a:lstStyle/>
                    <a:p>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Musical Moods: Emotion Detection and Music Recommendation</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Collection: </a:t>
                      </a:r>
                      <a:r>
                        <a:rPr lang="en-IN" sz="1600" b="0" dirty="0">
                          <a:latin typeface="Times New Roman" panose="02020603050405020304" pitchFamily="18" charset="0"/>
                          <a:cs typeface="Times New Roman" panose="02020603050405020304" pitchFamily="18" charset="0"/>
                        </a:rPr>
                        <a:t>Gather music and user mood data.</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Mood Detection: </a:t>
                      </a:r>
                      <a:r>
                        <a:rPr lang="en-IN" sz="1600" b="0" dirty="0">
                          <a:latin typeface="Times New Roman" panose="02020603050405020304" pitchFamily="18" charset="0"/>
                          <a:cs typeface="Times New Roman" panose="02020603050405020304" pitchFamily="18" charset="0"/>
                        </a:rPr>
                        <a:t>Identify emotions using self-reports and data.</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Emotion Recognition</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User Interface</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Testing</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Iteration</a:t>
                      </a:r>
                      <a:endParaRPr lang="en-IN" sz="16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Frontend: </a:t>
                      </a:r>
                      <a:r>
                        <a:rPr lang="en-IN" sz="1600" b="0" dirty="0">
                          <a:latin typeface="Times New Roman" panose="02020603050405020304" pitchFamily="18" charset="0"/>
                          <a:cs typeface="Times New Roman" panose="02020603050405020304" pitchFamily="18" charset="0"/>
                        </a:rPr>
                        <a:t>HTML, CSS, JavaScript (React.js or Angular).</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Backend: </a:t>
                      </a:r>
                      <a:r>
                        <a:rPr lang="en-IN" sz="1600" b="0" dirty="0">
                          <a:latin typeface="Times New Roman" panose="02020603050405020304" pitchFamily="18" charset="0"/>
                          <a:cs typeface="Times New Roman" panose="02020603050405020304" pitchFamily="18" charset="0"/>
                        </a:rPr>
                        <a:t>Node.js or Django; MongoDB or PostgreSQL.</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ML Models</a:t>
                      </a:r>
                      <a:endParaRPr lang="en-US"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Privacy: </a:t>
                      </a:r>
                      <a:r>
                        <a:rPr lang="en-IN" sz="1600" b="0" dirty="0">
                          <a:latin typeface="Times New Roman" panose="02020603050405020304" pitchFamily="18" charset="0"/>
                          <a:cs typeface="Times New Roman" panose="02020603050405020304" pitchFamily="18" charset="0"/>
                        </a:rPr>
                        <a:t>Concerns data collection.</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Emotion Scope: </a:t>
                      </a:r>
                      <a:r>
                        <a:rPr lang="en-IN" sz="1600" b="0" dirty="0">
                          <a:latin typeface="Times New Roman" panose="02020603050405020304" pitchFamily="18" charset="0"/>
                          <a:cs typeface="Times New Roman" panose="02020603050405020304" pitchFamily="18" charset="0"/>
                        </a:rPr>
                        <a:t>Limited to basic emotions</a:t>
                      </a:r>
                    </a:p>
                  </a:txBody>
                  <a:tcPr/>
                </a:tc>
                <a:extLst>
                  <a:ext uri="{0D108BD9-81ED-4DB2-BD59-A6C34878D82A}">
                    <a16:rowId xmlns:a16="http://schemas.microsoft.com/office/drawing/2014/main" val="1722521706"/>
                  </a:ext>
                </a:extLst>
              </a:tr>
              <a:tr h="3048033">
                <a:tc>
                  <a:txBody>
                    <a:bodyPr/>
                    <a:lstStyle/>
                    <a:p>
                      <a:r>
                        <a:rPr lang="en-US" sz="1600" dirty="0">
                          <a:latin typeface="Times New Roman" panose="02020603050405020304" pitchFamily="18" charset="0"/>
                          <a:cs typeface="Times New Roman" panose="02020603050405020304" pitchFamily="18" charset="0"/>
                        </a:rPr>
                        <a:t>5</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Emotion &amp; Activity Based Music Player</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lgn="l">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Collection</a:t>
                      </a:r>
                    </a:p>
                    <a:p>
                      <a:pPr marL="285750" indent="-285750" algn="l">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Preprocessing: </a:t>
                      </a:r>
                      <a:r>
                        <a:rPr lang="en-IN" sz="1600" b="0" dirty="0">
                          <a:latin typeface="Times New Roman" panose="02020603050405020304" pitchFamily="18" charset="0"/>
                          <a:cs typeface="Times New Roman" panose="02020603050405020304" pitchFamily="18" charset="0"/>
                        </a:rPr>
                        <a:t>Clean and prepare data for training . </a:t>
                      </a:r>
                    </a:p>
                    <a:p>
                      <a:pPr marL="285750" indent="-285750" algn="l">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Model Training: </a:t>
                      </a:r>
                      <a:r>
                        <a:rPr lang="en-IN" sz="1600" b="0" dirty="0">
                          <a:latin typeface="Times New Roman" panose="02020603050405020304" pitchFamily="18" charset="0"/>
                          <a:cs typeface="Times New Roman" panose="02020603050405020304" pitchFamily="18" charset="0"/>
                        </a:rPr>
                        <a:t>Train emotion detection models (CNN, LSTM) and activity classifiers (SVM, Decision Trees).</a:t>
                      </a:r>
                    </a:p>
                    <a:p>
                      <a:pPr marL="285750" indent="-285750" algn="l">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Emotion Recognition</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Activity Recognition</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Music Recommendation</a:t>
                      </a:r>
                    </a:p>
                    <a:p>
                      <a:pPr marL="0" indent="0" algn="just">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Emotion Detection </a:t>
                      </a:r>
                      <a:r>
                        <a:rPr lang="en-IN" sz="1600" b="0" dirty="0">
                          <a:latin typeface="Times New Roman" panose="02020603050405020304" pitchFamily="18" charset="0"/>
                          <a:cs typeface="Times New Roman" panose="02020603050405020304" pitchFamily="18" charset="0"/>
                        </a:rPr>
                        <a:t>Difficulty with complex emotions </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Real-Time Processing</a:t>
                      </a:r>
                      <a:r>
                        <a:rPr lang="en-IN" sz="1600" b="0" dirty="0">
                          <a:latin typeface="Times New Roman" panose="02020603050405020304" pitchFamily="18" charset="0"/>
                          <a:cs typeface="Times New Roman" panose="02020603050405020304" pitchFamily="18" charset="0"/>
                        </a:rPr>
                        <a:t>: High computational demands affect mobile use.</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Privacy Concerns</a:t>
                      </a:r>
                      <a:endParaRPr lang="en-IN" sz="1600" b="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4918124"/>
                  </a:ext>
                </a:extLst>
              </a:tr>
            </a:tbl>
          </a:graphicData>
        </a:graphic>
      </p:graphicFrame>
    </p:spTree>
    <p:extLst>
      <p:ext uri="{BB962C8B-B14F-4D97-AF65-F5344CB8AC3E}">
        <p14:creationId xmlns:p14="http://schemas.microsoft.com/office/powerpoint/2010/main" val="829379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4874E7D-EF55-BB17-9FE6-FCF66A47631C}"/>
              </a:ext>
            </a:extLst>
          </p:cNvPr>
          <p:cNvGraphicFramePr>
            <a:graphicFrameLocks noGrp="1"/>
          </p:cNvGraphicFramePr>
          <p:nvPr>
            <p:extLst>
              <p:ext uri="{D42A27DB-BD31-4B8C-83A1-F6EECF244321}">
                <p14:modId xmlns:p14="http://schemas.microsoft.com/office/powerpoint/2010/main" val="4133387062"/>
              </p:ext>
            </p:extLst>
          </p:nvPr>
        </p:nvGraphicFramePr>
        <p:xfrm>
          <a:off x="358218" y="142938"/>
          <a:ext cx="11067070" cy="5807665"/>
        </p:xfrm>
        <a:graphic>
          <a:graphicData uri="http://schemas.openxmlformats.org/drawingml/2006/table">
            <a:tbl>
              <a:tblPr firstRow="1" bandRow="1">
                <a:tableStyleId>{5C22544A-7EE6-4342-B048-85BDC9FD1C3A}</a:tableStyleId>
              </a:tblPr>
              <a:tblGrid>
                <a:gridCol w="482610">
                  <a:extLst>
                    <a:ext uri="{9D8B030D-6E8A-4147-A177-3AD203B41FA5}">
                      <a16:colId xmlns:a16="http://schemas.microsoft.com/office/drawing/2014/main" val="3166586306"/>
                    </a:ext>
                  </a:extLst>
                </a:gridCol>
                <a:gridCol w="1486702">
                  <a:extLst>
                    <a:ext uri="{9D8B030D-6E8A-4147-A177-3AD203B41FA5}">
                      <a16:colId xmlns:a16="http://schemas.microsoft.com/office/drawing/2014/main" val="2330615824"/>
                    </a:ext>
                  </a:extLst>
                </a:gridCol>
                <a:gridCol w="594779">
                  <a:extLst>
                    <a:ext uri="{9D8B030D-6E8A-4147-A177-3AD203B41FA5}">
                      <a16:colId xmlns:a16="http://schemas.microsoft.com/office/drawing/2014/main" val="1330155845"/>
                    </a:ext>
                  </a:extLst>
                </a:gridCol>
                <a:gridCol w="2883229">
                  <a:extLst>
                    <a:ext uri="{9D8B030D-6E8A-4147-A177-3AD203B41FA5}">
                      <a16:colId xmlns:a16="http://schemas.microsoft.com/office/drawing/2014/main" val="363875944"/>
                    </a:ext>
                  </a:extLst>
                </a:gridCol>
                <a:gridCol w="2914421">
                  <a:extLst>
                    <a:ext uri="{9D8B030D-6E8A-4147-A177-3AD203B41FA5}">
                      <a16:colId xmlns:a16="http://schemas.microsoft.com/office/drawing/2014/main" val="3350289250"/>
                    </a:ext>
                  </a:extLst>
                </a:gridCol>
                <a:gridCol w="2705329">
                  <a:extLst>
                    <a:ext uri="{9D8B030D-6E8A-4147-A177-3AD203B41FA5}">
                      <a16:colId xmlns:a16="http://schemas.microsoft.com/office/drawing/2014/main" val="3214598559"/>
                    </a:ext>
                  </a:extLst>
                </a:gridCol>
              </a:tblGrid>
              <a:tr h="2546305">
                <a:tc>
                  <a:txBody>
                    <a:bodyPr/>
                    <a:lstStyle/>
                    <a:p>
                      <a:r>
                        <a:rPr lang="en-US" sz="1600" b="1" dirty="0">
                          <a:latin typeface="Times New Roman" panose="02020603050405020304" pitchFamily="18" charset="0"/>
                          <a:cs typeface="Times New Roman" panose="02020603050405020304" pitchFamily="18" charset="0"/>
                        </a:rPr>
                        <a:t>6</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Emotion Based Music Player</a:t>
                      </a:r>
                      <a:endParaRPr lang="en-IN" sz="1600"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0" dirty="0">
                          <a:latin typeface="Times New Roman" panose="02020603050405020304" pitchFamily="18" charset="0"/>
                          <a:cs typeface="Times New Roman" panose="02020603050405020304" pitchFamily="18" charset="0"/>
                        </a:rPr>
                        <a:t>2021</a:t>
                      </a:r>
                      <a:endParaRPr lang="en-IN" sz="1600" b="0" dirty="0">
                        <a:latin typeface="Times New Roman" panose="02020603050405020304" pitchFamily="18" charset="0"/>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dirty="0">
                          <a:latin typeface="Times New Roman" panose="02020603050405020304" pitchFamily="18" charset="0"/>
                          <a:cs typeface="Times New Roman" panose="02020603050405020304" pitchFamily="18" charset="0"/>
                        </a:rPr>
                        <a:t>The Emotion-Based Music Player uses facial recognition, text analysis, and activity tracking to play music that matches your mood and actions. It creates personalized playlists for different emotions and activities, offering a seamless music experience</a:t>
                      </a:r>
                      <a:r>
                        <a:rPr lang="en-US" sz="1600" dirty="0"/>
                        <a:t>.</a:t>
                      </a:r>
                      <a:endParaRPr lang="en-US" sz="1600" b="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Mood Detection: </a:t>
                      </a:r>
                      <a:r>
                        <a:rPr lang="en-IN" sz="1400" b="0" dirty="0">
                          <a:latin typeface="Times New Roman" panose="02020603050405020304" pitchFamily="18" charset="0"/>
                          <a:cs typeface="Times New Roman" panose="02020603050405020304" pitchFamily="18" charset="0"/>
                        </a:rPr>
                        <a:t>Utilizes self-reports and biometric data.</a:t>
                      </a:r>
                    </a:p>
                    <a:p>
                      <a:pPr marL="28575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Audio Feature Extraction</a:t>
                      </a:r>
                    </a:p>
                    <a:p>
                      <a:pPr marL="28575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Machine Learning</a:t>
                      </a:r>
                      <a:endParaRPr lang="en-IN" sz="1400" b="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0" dirty="0">
                        <a:latin typeface="Times New Roman" panose="02020603050405020304" pitchFamily="18" charset="0"/>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dirty="0">
                          <a:latin typeface="Times New Roman" panose="02020603050405020304" pitchFamily="18" charset="0"/>
                          <a:cs typeface="Times New Roman" panose="02020603050405020304" pitchFamily="18" charset="0"/>
                        </a:rPr>
                        <a:t>The Emotion-Based Music Player faces limitations such as inaccurate emotion and activity detection, performance issues in real-time, privacy concerns, and challenges in adapting to diverse users and evolving preferences. Additionally, some users may prefer more control over the music selection. </a:t>
                      </a:r>
                      <a:endParaRPr lang="en-IN" sz="1600" b="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4743474"/>
                  </a:ext>
                </a:extLst>
              </a:tr>
              <a:tr h="2546305">
                <a:tc>
                  <a:txBody>
                    <a:bodyPr/>
                    <a:lstStyle/>
                    <a:p>
                      <a:r>
                        <a:rPr lang="en-IN" sz="1600" b="1" dirty="0">
                          <a:latin typeface="Times New Roman" panose="02020603050405020304" pitchFamily="18" charset="0"/>
                          <a:cs typeface="Times New Roman" panose="02020603050405020304" pitchFamily="18"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Music </a:t>
                      </a:r>
                      <a:r>
                        <a:rPr lang="en-US" sz="1600" b="1" dirty="0" err="1">
                          <a:latin typeface="Times New Roman" panose="02020603050405020304" pitchFamily="18" charset="0"/>
                          <a:cs typeface="Times New Roman" panose="02020603050405020304" pitchFamily="18" charset="0"/>
                        </a:rPr>
                        <a:t>Recommedation</a:t>
                      </a:r>
                      <a:r>
                        <a:rPr lang="en-US" sz="1600" b="1" dirty="0">
                          <a:latin typeface="Times New Roman" panose="02020603050405020304" pitchFamily="18" charset="0"/>
                          <a:cs typeface="Times New Roman" panose="02020603050405020304" pitchFamily="18" charset="0"/>
                        </a:rPr>
                        <a:t> system using Emotion recognition</a:t>
                      </a:r>
                    </a:p>
                  </a:txBody>
                  <a:tcPr/>
                </a:tc>
                <a:tc>
                  <a:txBody>
                    <a:bodyPr/>
                    <a:lstStyle/>
                    <a:p>
                      <a:r>
                        <a:rPr lang="en-US" sz="1600" dirty="0">
                          <a:latin typeface="Times New Roman" panose="02020603050405020304" pitchFamily="18" charset="0"/>
                          <a:cs typeface="Times New Roman" panose="02020603050405020304" pitchFamily="18" charset="0"/>
                        </a:rPr>
                        <a:t>2021</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lgn="l">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Collection: </a:t>
                      </a:r>
                      <a:r>
                        <a:rPr lang="en-IN" sz="1600" b="0" dirty="0">
                          <a:latin typeface="Times New Roman" panose="02020603050405020304" pitchFamily="18" charset="0"/>
                          <a:cs typeface="Times New Roman" panose="02020603050405020304" pitchFamily="18" charset="0"/>
                        </a:rPr>
                        <a:t>Gather audio tracks and user emotional responses.</a:t>
                      </a:r>
                    </a:p>
                    <a:p>
                      <a:pPr marL="285750" indent="-285750" algn="l">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Emotion Detection: </a:t>
                      </a:r>
                      <a:r>
                        <a:rPr lang="en-IN" sz="1600" b="0" dirty="0">
                          <a:latin typeface="Times New Roman" panose="02020603050405020304" pitchFamily="18" charset="0"/>
                          <a:cs typeface="Times New Roman" panose="02020603050405020304" pitchFamily="18" charset="0"/>
                        </a:rPr>
                        <a:t>Train models (CNN, RNN, LSTM) for emotion classification.</a:t>
                      </a:r>
                    </a:p>
                    <a:p>
                      <a:pPr marL="285750" indent="-285750" algn="l">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Real-Time Processing</a:t>
                      </a:r>
                    </a:p>
                    <a:p>
                      <a:pPr marL="285750" indent="-285750" algn="l">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User Interface</a:t>
                      </a:r>
                      <a:endParaRPr lang="en-IN" sz="16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Emotion Recognition</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RNN/LSTM: </a:t>
                      </a:r>
                      <a:r>
                        <a:rPr lang="en-IN" sz="1600" b="0" dirty="0">
                          <a:latin typeface="Times New Roman" panose="02020603050405020304" pitchFamily="18" charset="0"/>
                          <a:cs typeface="Times New Roman" panose="02020603050405020304" pitchFamily="18" charset="0"/>
                        </a:rPr>
                        <a:t>Processes voice emotions.</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Audio Feature Extraction</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Spectral and Chroma Features</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 Content-Based Filtering</a:t>
                      </a:r>
                      <a:endParaRPr lang="en-US" sz="1400" b="0" dirty="0">
                        <a:latin typeface="Times New Roman" panose="02020603050405020304" pitchFamily="18" charset="0"/>
                        <a:cs typeface="Times New Roman" panose="02020603050405020304" pitchFamily="18" charset="0"/>
                      </a:endParaRPr>
                    </a:p>
                    <a:p>
                      <a:endParaRPr lang="en-US" sz="1600" dirty="0"/>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Emotion Detection: </a:t>
                      </a:r>
                      <a:r>
                        <a:rPr lang="en-IN" sz="1600" b="0" dirty="0">
                          <a:latin typeface="Times New Roman" panose="02020603050405020304" pitchFamily="18" charset="0"/>
                          <a:cs typeface="Times New Roman" panose="02020603050405020304" pitchFamily="18" charset="0"/>
                        </a:rPr>
                        <a:t>Difficulty with complex emotions .</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Contextual Understanding</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 Narrow Activity Recognition</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Privacy Concerns</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Feedback Integration</a:t>
                      </a:r>
                      <a:endParaRPr lang="en-IN"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6723662"/>
                  </a:ext>
                </a:extLst>
              </a:tr>
            </a:tbl>
          </a:graphicData>
        </a:graphic>
      </p:graphicFrame>
    </p:spTree>
    <p:extLst>
      <p:ext uri="{BB962C8B-B14F-4D97-AF65-F5344CB8AC3E}">
        <p14:creationId xmlns:p14="http://schemas.microsoft.com/office/powerpoint/2010/main" val="1438947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52D2F75-E90A-F928-C4C7-2D6AFD71850C}"/>
              </a:ext>
            </a:extLst>
          </p:cNvPr>
          <p:cNvGraphicFramePr>
            <a:graphicFrameLocks noGrp="1"/>
          </p:cNvGraphicFramePr>
          <p:nvPr>
            <p:extLst>
              <p:ext uri="{D42A27DB-BD31-4B8C-83A1-F6EECF244321}">
                <p14:modId xmlns:p14="http://schemas.microsoft.com/office/powerpoint/2010/main" val="1824258877"/>
              </p:ext>
            </p:extLst>
          </p:nvPr>
        </p:nvGraphicFramePr>
        <p:xfrm>
          <a:off x="321547" y="348791"/>
          <a:ext cx="11282498" cy="6401308"/>
        </p:xfrm>
        <a:graphic>
          <a:graphicData uri="http://schemas.openxmlformats.org/drawingml/2006/table">
            <a:tbl>
              <a:tblPr firstRow="1" bandRow="1">
                <a:tableStyleId>{5C22544A-7EE6-4342-B048-85BDC9FD1C3A}</a:tableStyleId>
              </a:tblPr>
              <a:tblGrid>
                <a:gridCol w="334243">
                  <a:extLst>
                    <a:ext uri="{9D8B030D-6E8A-4147-A177-3AD203B41FA5}">
                      <a16:colId xmlns:a16="http://schemas.microsoft.com/office/drawing/2014/main" val="1072250194"/>
                    </a:ext>
                  </a:extLst>
                </a:gridCol>
                <a:gridCol w="969063">
                  <a:extLst>
                    <a:ext uri="{9D8B030D-6E8A-4147-A177-3AD203B41FA5}">
                      <a16:colId xmlns:a16="http://schemas.microsoft.com/office/drawing/2014/main" val="3451515663"/>
                    </a:ext>
                  </a:extLst>
                </a:gridCol>
                <a:gridCol w="635708">
                  <a:extLst>
                    <a:ext uri="{9D8B030D-6E8A-4147-A177-3AD203B41FA5}">
                      <a16:colId xmlns:a16="http://schemas.microsoft.com/office/drawing/2014/main" val="1717326952"/>
                    </a:ext>
                  </a:extLst>
                </a:gridCol>
                <a:gridCol w="3192198">
                  <a:extLst>
                    <a:ext uri="{9D8B030D-6E8A-4147-A177-3AD203B41FA5}">
                      <a16:colId xmlns:a16="http://schemas.microsoft.com/office/drawing/2014/main" val="2400103792"/>
                    </a:ext>
                  </a:extLst>
                </a:gridCol>
                <a:gridCol w="2478145">
                  <a:extLst>
                    <a:ext uri="{9D8B030D-6E8A-4147-A177-3AD203B41FA5}">
                      <a16:colId xmlns:a16="http://schemas.microsoft.com/office/drawing/2014/main" val="3783238228"/>
                    </a:ext>
                  </a:extLst>
                </a:gridCol>
                <a:gridCol w="3673141">
                  <a:extLst>
                    <a:ext uri="{9D8B030D-6E8A-4147-A177-3AD203B41FA5}">
                      <a16:colId xmlns:a16="http://schemas.microsoft.com/office/drawing/2014/main" val="2279128560"/>
                    </a:ext>
                  </a:extLst>
                </a:gridCol>
              </a:tblGrid>
              <a:tr h="3200654">
                <a:tc>
                  <a:txBody>
                    <a:bodyPr/>
                    <a:lstStyle/>
                    <a:p>
                      <a:r>
                        <a:rPr lang="en-US" sz="1600" b="0" dirty="0">
                          <a:solidFill>
                            <a:schemeClr val="bg1"/>
                          </a:solidFill>
                          <a:latin typeface="Times New Roman" panose="02020603050405020304" pitchFamily="18" charset="0"/>
                          <a:cs typeface="Times New Roman" panose="02020603050405020304" pitchFamily="18" charset="0"/>
                        </a:rPr>
                        <a:t>8</a:t>
                      </a:r>
                      <a:endParaRPr lang="en-IN" sz="16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Web Application for emotion-based Music Player</a:t>
                      </a:r>
                      <a:endParaRPr lang="en-IN" sz="1600" dirty="0">
                        <a:latin typeface="Times New Roman" panose="02020603050405020304" pitchFamily="18" charset="0"/>
                        <a:cs typeface="Times New Roman" panose="02020603050405020304" pitchFamily="18" charset="0"/>
                      </a:endParaRPr>
                    </a:p>
                    <a:p>
                      <a:endParaRPr lang="en-IN" sz="1600" b="0"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IN" sz="1600" b="0" dirty="0">
                          <a:solidFill>
                            <a:schemeClr val="bg1"/>
                          </a:solidFill>
                          <a:latin typeface="Times New Roman" panose="02020603050405020304" pitchFamily="18" charset="0"/>
                          <a:cs typeface="Times New Roman" panose="02020603050405020304" pitchFamily="18" charset="0"/>
                        </a:rPr>
                        <a:t>2021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dirty="0">
                          <a:latin typeface="Times New Roman" panose="02020603050405020304" pitchFamily="18" charset="0"/>
                          <a:cs typeface="Times New Roman" panose="02020603050405020304" pitchFamily="18" charset="0"/>
                        </a:rPr>
                        <a:t>The methodology involves collecting emotion and music datasets, building an emotion recognition model (using CNN for facial expressions), creating a music recommendation system based on emotions, developing a web app with real-time processing, testing the system's accuracy and performance, and deploying it on cloud platforms</a:t>
                      </a:r>
                    </a:p>
                    <a:p>
                      <a:pPr marL="0" indent="0" algn="l">
                        <a:buFont typeface="Arial" panose="020B0604020202020204" pitchFamily="34" charset="0"/>
                        <a:buNone/>
                      </a:pPr>
                      <a:endParaRPr lang="en-IN" sz="16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latin typeface="Times New Roman" panose="02020603050405020304" pitchFamily="18" charset="0"/>
                          <a:cs typeface="Times New Roman" panose="02020603050405020304" pitchFamily="18" charset="0"/>
                        </a:rPr>
                        <a:t>The web app uses React.js for the frontend, Node.js for the backend, and CNN models for emotion recognition. It employs KNN for music recommendation and deploys on cloud platforms like AWS for real-time processing and scalability.</a:t>
                      </a:r>
                    </a:p>
                    <a:p>
                      <a:endParaRPr lang="en-IN" sz="16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dirty="0">
                          <a:latin typeface="Times New Roman" panose="02020603050405020304" pitchFamily="18" charset="0"/>
                          <a:cs typeface="Times New Roman" panose="02020603050405020304" pitchFamily="18" charset="0"/>
                        </a:rPr>
                        <a:t>Limitations include inaccurate emotion recognition, latency in real-time processing, privacy concerns, a limited range of emotions, and inadequate personalization of recommendations.</a:t>
                      </a:r>
                      <a:endParaRPr lang="en-IN" sz="1600" b="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1600" b="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48290095"/>
                  </a:ext>
                </a:extLst>
              </a:tr>
              <a:tr h="3200654">
                <a:tc>
                  <a:txBody>
                    <a:bodyPr/>
                    <a:lstStyle/>
                    <a:p>
                      <a:r>
                        <a:rPr lang="en-US" sz="1600" b="0" dirty="0">
                          <a:solidFill>
                            <a:schemeClr val="tx1"/>
                          </a:solidFill>
                          <a:latin typeface="Times New Roman" panose="02020603050405020304" pitchFamily="18" charset="0"/>
                          <a:cs typeface="Times New Roman" panose="02020603050405020304" pitchFamily="18" charset="0"/>
                        </a:rPr>
                        <a:t>9</a:t>
                      </a:r>
                      <a:endParaRPr lang="en-IN" sz="16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Smart Music Player based on facial Emotion</a:t>
                      </a:r>
                      <a:endParaRPr lang="en-IN" sz="1600" b="0" dirty="0">
                        <a:solidFill>
                          <a:schemeClr val="tx1"/>
                        </a:solidFill>
                        <a:latin typeface="Times New Roman" panose="02020603050405020304" pitchFamily="18" charset="0"/>
                        <a:cs typeface="Times New Roman" panose="02020603050405020304" pitchFamily="18" charset="0"/>
                      </a:endParaRPr>
                    </a:p>
                    <a:p>
                      <a:endParaRPr lang="en-IN" sz="16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2021</a:t>
                      </a:r>
                      <a:endParaRPr lang="en-IN" sz="1600" b="0" dirty="0">
                        <a:solidFill>
                          <a:schemeClr val="tx1"/>
                        </a:solidFill>
                        <a:latin typeface="Times New Roman" panose="02020603050405020304" pitchFamily="18" charset="0"/>
                        <a:cs typeface="Times New Roman" panose="02020603050405020304" pitchFamily="18" charset="0"/>
                      </a:endParaRPr>
                    </a:p>
                    <a:p>
                      <a:endParaRPr lang="en-IN" sz="16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285750" indent="-285750" algn="l">
                        <a:buFont typeface="Arial" panose="020B0604020202020204" pitchFamily="34" charset="0"/>
                        <a:buChar char="•"/>
                      </a:pPr>
                      <a:r>
                        <a:rPr lang="en-IN" sz="1600" b="1" dirty="0">
                          <a:solidFill>
                            <a:schemeClr val="tx1"/>
                          </a:solidFill>
                          <a:latin typeface="Times New Roman" panose="02020603050405020304" pitchFamily="18" charset="0"/>
                          <a:cs typeface="Times New Roman" panose="02020603050405020304" pitchFamily="18" charset="0"/>
                        </a:rPr>
                        <a:t>Data Collection: </a:t>
                      </a:r>
                      <a:r>
                        <a:rPr lang="en-IN" sz="1600" b="0" dirty="0">
                          <a:solidFill>
                            <a:schemeClr val="tx1"/>
                          </a:solidFill>
                          <a:latin typeface="Times New Roman" panose="02020603050405020304" pitchFamily="18" charset="0"/>
                          <a:cs typeface="Times New Roman" panose="02020603050405020304" pitchFamily="18" charset="0"/>
                        </a:rPr>
                        <a:t>Capture facial images/videos for emotion detection .</a:t>
                      </a:r>
                    </a:p>
                    <a:p>
                      <a:pPr marL="285750" indent="-285750" algn="l">
                        <a:buFont typeface="Arial" panose="020B0604020202020204" pitchFamily="34" charset="0"/>
                        <a:buChar char="•"/>
                      </a:pPr>
                      <a:r>
                        <a:rPr lang="en-IN" sz="1600" b="1" dirty="0">
                          <a:solidFill>
                            <a:schemeClr val="tx1"/>
                          </a:solidFill>
                          <a:latin typeface="Times New Roman" panose="02020603050405020304" pitchFamily="18" charset="0"/>
                          <a:cs typeface="Times New Roman" panose="02020603050405020304" pitchFamily="18" charset="0"/>
                        </a:rPr>
                        <a:t>Preprocessing: </a:t>
                      </a:r>
                      <a:r>
                        <a:rPr lang="en-IN" sz="1600" b="0" dirty="0">
                          <a:solidFill>
                            <a:schemeClr val="tx1"/>
                          </a:solidFill>
                          <a:latin typeface="Times New Roman" panose="02020603050405020304" pitchFamily="18" charset="0"/>
                          <a:cs typeface="Times New Roman" panose="02020603050405020304" pitchFamily="18" charset="0"/>
                        </a:rPr>
                        <a:t>Enhance images and extract features .</a:t>
                      </a:r>
                    </a:p>
                    <a:p>
                      <a:pPr marL="285750" indent="-285750" algn="l">
                        <a:buFont typeface="Arial" panose="020B0604020202020204" pitchFamily="34" charset="0"/>
                        <a:buChar char="•"/>
                      </a:pPr>
                      <a:r>
                        <a:rPr lang="en-IN" sz="1600" b="1" dirty="0">
                          <a:solidFill>
                            <a:schemeClr val="tx1"/>
                          </a:solidFill>
                          <a:latin typeface="Times New Roman" panose="02020603050405020304" pitchFamily="18" charset="0"/>
                          <a:cs typeface="Times New Roman" panose="02020603050405020304" pitchFamily="18" charset="0"/>
                        </a:rPr>
                        <a:t>Emotion Detection: </a:t>
                      </a:r>
                      <a:r>
                        <a:rPr lang="en-IN" sz="1600" b="0" dirty="0">
                          <a:solidFill>
                            <a:schemeClr val="tx1"/>
                          </a:solidFill>
                          <a:latin typeface="Times New Roman" panose="02020603050405020304" pitchFamily="18" charset="0"/>
                          <a:cs typeface="Times New Roman" panose="02020603050405020304" pitchFamily="18" charset="0"/>
                        </a:rPr>
                        <a:t>Train a CNN to recognize emotions using datasets like FER2013</a:t>
                      </a:r>
                    </a:p>
                  </a:txBody>
                  <a:tcPr/>
                </a:tc>
                <a:tc>
                  <a:txBody>
                    <a:bodyPr/>
                    <a:lstStyle/>
                    <a:p>
                      <a:pPr marL="285750" indent="-285750">
                        <a:buFont typeface="Arial" panose="020B0604020202020204" pitchFamily="34" charset="0"/>
                        <a:buChar char="•"/>
                      </a:pPr>
                      <a:r>
                        <a:rPr lang="en-US" sz="1600" b="1" dirty="0">
                          <a:solidFill>
                            <a:schemeClr val="tx1"/>
                          </a:solidFill>
                          <a:latin typeface="Times New Roman" panose="02020603050405020304" pitchFamily="18" charset="0"/>
                          <a:cs typeface="Times New Roman" panose="02020603050405020304" pitchFamily="18" charset="0"/>
                        </a:rPr>
                        <a:t>Emotion Recognition:</a:t>
                      </a:r>
                    </a:p>
                    <a:p>
                      <a:pPr marL="285750" indent="-285750">
                        <a:buFont typeface="Arial" panose="020B0604020202020204" pitchFamily="34" charset="0"/>
                        <a:buChar char="•"/>
                      </a:pPr>
                      <a:r>
                        <a:rPr lang="en-US" sz="1600" b="1" dirty="0">
                          <a:solidFill>
                            <a:schemeClr val="tx1"/>
                          </a:solidFill>
                          <a:latin typeface="Times New Roman" panose="02020603050405020304" pitchFamily="18" charset="0"/>
                          <a:cs typeface="Times New Roman" panose="02020603050405020304" pitchFamily="18" charset="0"/>
                        </a:rPr>
                        <a:t>Emotion Mapping:</a:t>
                      </a:r>
                    </a:p>
                    <a:p>
                      <a:r>
                        <a:rPr lang="en-US" sz="1600" b="0" dirty="0">
                          <a:solidFill>
                            <a:schemeClr val="tx1"/>
                          </a:solidFill>
                          <a:latin typeface="Times New Roman" panose="02020603050405020304" pitchFamily="18" charset="0"/>
                          <a:cs typeface="Times New Roman" panose="02020603050405020304" pitchFamily="18" charset="0"/>
                        </a:rPr>
                        <a:t>Lookup tables linking emotions to music genres.</a:t>
                      </a:r>
                    </a:p>
                    <a:p>
                      <a:pPr marL="285750" indent="-285750">
                        <a:buFont typeface="Arial" panose="020B0604020202020204" pitchFamily="34" charset="0"/>
                        <a:buChar char="•"/>
                      </a:pPr>
                      <a:r>
                        <a:rPr lang="en-US" sz="1600" b="1" dirty="0">
                          <a:solidFill>
                            <a:schemeClr val="tx1"/>
                          </a:solidFill>
                          <a:latin typeface="Times New Roman" panose="02020603050405020304" pitchFamily="18" charset="0"/>
                          <a:cs typeface="Times New Roman" panose="02020603050405020304" pitchFamily="18" charset="0"/>
                        </a:rPr>
                        <a:t>Music Recommendation</a:t>
                      </a:r>
                    </a:p>
                    <a:p>
                      <a:endParaRPr lang="en-IN" sz="16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b="1" dirty="0">
                          <a:solidFill>
                            <a:schemeClr val="tx1"/>
                          </a:solidFill>
                          <a:latin typeface="Times New Roman" panose="02020603050405020304" pitchFamily="18" charset="0"/>
                          <a:cs typeface="Times New Roman" panose="02020603050405020304" pitchFamily="18" charset="0"/>
                        </a:rPr>
                        <a:t>Emotion Detection: </a:t>
                      </a:r>
                      <a:r>
                        <a:rPr lang="en-IN" sz="1600" b="0" dirty="0">
                          <a:solidFill>
                            <a:schemeClr val="tx1"/>
                          </a:solidFill>
                          <a:latin typeface="Times New Roman" panose="02020603050405020304" pitchFamily="18" charset="0"/>
                          <a:cs typeface="Times New Roman" panose="02020603050405020304" pitchFamily="18" charset="0"/>
                        </a:rPr>
                        <a:t>Difficulty with mixed emotions.</a:t>
                      </a:r>
                    </a:p>
                    <a:p>
                      <a:pPr marL="285750" indent="-285750">
                        <a:buFont typeface="Arial" panose="020B0604020202020204" pitchFamily="34" charset="0"/>
                        <a:buChar char="•"/>
                      </a:pPr>
                      <a:r>
                        <a:rPr lang="en-IN" sz="1600" b="1" dirty="0">
                          <a:solidFill>
                            <a:schemeClr val="tx1"/>
                          </a:solidFill>
                          <a:latin typeface="Times New Roman" panose="02020603050405020304" pitchFamily="18" charset="0"/>
                          <a:cs typeface="Times New Roman" panose="02020603050405020304" pitchFamily="18" charset="0"/>
                        </a:rPr>
                        <a:t>Privacy Issues: </a:t>
                      </a:r>
                      <a:r>
                        <a:rPr lang="en-IN" sz="1600" b="0" dirty="0">
                          <a:solidFill>
                            <a:schemeClr val="tx1"/>
                          </a:solidFill>
                          <a:latin typeface="Times New Roman" panose="02020603050405020304" pitchFamily="18" charset="0"/>
                          <a:cs typeface="Times New Roman" panose="02020603050405020304" pitchFamily="18" charset="0"/>
                        </a:rPr>
                        <a:t>Continuous data collection raises concerns.</a:t>
                      </a:r>
                    </a:p>
                    <a:p>
                      <a:pPr marL="285750" indent="-285750">
                        <a:buFont typeface="Arial" panose="020B0604020202020204" pitchFamily="34" charset="0"/>
                        <a:buChar char="•"/>
                      </a:pPr>
                      <a:r>
                        <a:rPr lang="en-IN" sz="1600" b="1" dirty="0">
                          <a:solidFill>
                            <a:schemeClr val="tx1"/>
                          </a:solidFill>
                          <a:latin typeface="Times New Roman" panose="02020603050405020304" pitchFamily="18" charset="0"/>
                          <a:cs typeface="Times New Roman" panose="02020603050405020304" pitchFamily="18" charset="0"/>
                        </a:rPr>
                        <a:t>Emotional Range</a:t>
                      </a:r>
                    </a:p>
                    <a:p>
                      <a:pPr marL="285750" indent="-285750">
                        <a:buFont typeface="Arial" panose="020B0604020202020204" pitchFamily="34" charset="0"/>
                        <a:buChar char="•"/>
                      </a:pPr>
                      <a:r>
                        <a:rPr lang="en-IN" sz="1600" b="1" dirty="0">
                          <a:solidFill>
                            <a:schemeClr val="tx1"/>
                          </a:solidFill>
                          <a:latin typeface="Times New Roman" panose="02020603050405020304" pitchFamily="18" charset="0"/>
                          <a:cs typeface="Times New Roman" panose="02020603050405020304" pitchFamily="18" charset="0"/>
                        </a:rPr>
                        <a:t>Feedback Integration</a:t>
                      </a:r>
                      <a:endParaRPr lang="en-IN" sz="1600" b="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19288820"/>
                  </a:ext>
                </a:extLst>
              </a:tr>
            </a:tbl>
          </a:graphicData>
        </a:graphic>
      </p:graphicFrame>
    </p:spTree>
    <p:extLst>
      <p:ext uri="{BB962C8B-B14F-4D97-AF65-F5344CB8AC3E}">
        <p14:creationId xmlns:p14="http://schemas.microsoft.com/office/powerpoint/2010/main" val="2146958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E937-AD59-F4A0-72B9-098FBA6758E6}"/>
              </a:ext>
            </a:extLst>
          </p:cNvPr>
          <p:cNvSpPr>
            <a:spLocks noGrp="1"/>
          </p:cNvSpPr>
          <p:nvPr>
            <p:ph type="title"/>
          </p:nvPr>
        </p:nvSpPr>
        <p:spPr/>
        <p:txBody>
          <a:bodyPr>
            <a:normAutofit/>
          </a:bodyPr>
          <a:lstStyle/>
          <a:p>
            <a:pPr algn="ctr"/>
            <a:r>
              <a:rPr lang="en-IN" sz="2800" b="1" u="sng" dirty="0">
                <a:latin typeface="Times New Roman" panose="02020603050405020304" pitchFamily="18" charset="0"/>
                <a:cs typeface="Times New Roman" panose="02020603050405020304" pitchFamily="18" charset="0"/>
              </a:rPr>
              <a:t>Purpose</a:t>
            </a:r>
          </a:p>
        </p:txBody>
      </p:sp>
      <p:sp>
        <p:nvSpPr>
          <p:cNvPr id="4" name="TextBox 3">
            <a:extLst>
              <a:ext uri="{FF2B5EF4-FFF2-40B4-BE49-F238E27FC236}">
                <a16:creationId xmlns:a16="http://schemas.microsoft.com/office/drawing/2014/main" id="{1ACE3B93-ED88-5198-A883-DDDA17577DFF}"/>
              </a:ext>
            </a:extLst>
          </p:cNvPr>
          <p:cNvSpPr txBox="1"/>
          <p:nvPr/>
        </p:nvSpPr>
        <p:spPr>
          <a:xfrm>
            <a:off x="1238839" y="1690688"/>
            <a:ext cx="9964132" cy="2397066"/>
          </a:xfrm>
          <a:prstGeom prst="rect">
            <a:avLst/>
          </a:prstGeom>
          <a:noFill/>
        </p:spPr>
        <p:txBody>
          <a:bodyPr wrap="square">
            <a:spAutoFit/>
          </a:bodyPr>
          <a:lstStyle/>
          <a:p>
            <a:endParaRPr lang="en-US" dirty="0"/>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Emotion and Activity-Based Music Player automatically plays music based on how you feel or what you're doing. It uses technology to detect your emotions (like happy or sad) and activities (like exercising or relaxing) to choose songs that match your mood. </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makes the music experience more enjoyable and hands-free, perfect for personal use or in areas like wellness and entertainment.</a:t>
            </a:r>
          </a:p>
        </p:txBody>
      </p:sp>
    </p:spTree>
    <p:extLst>
      <p:ext uri="{BB962C8B-B14F-4D97-AF65-F5344CB8AC3E}">
        <p14:creationId xmlns:p14="http://schemas.microsoft.com/office/powerpoint/2010/main" val="89145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49A46-F2EC-DD1D-0207-E0B27268125A}"/>
              </a:ext>
            </a:extLst>
          </p:cNvPr>
          <p:cNvSpPr>
            <a:spLocks noGrp="1"/>
          </p:cNvSpPr>
          <p:nvPr>
            <p:ph type="title"/>
          </p:nvPr>
        </p:nvSpPr>
        <p:spPr/>
        <p:txBody>
          <a:bodyPr>
            <a:normAutofit/>
          </a:bodyPr>
          <a:lstStyle/>
          <a:p>
            <a:pPr algn="ctr"/>
            <a:r>
              <a:rPr lang="en-IN" sz="2800" b="1" u="sng" dirty="0">
                <a:latin typeface="Times New Roman" panose="02020603050405020304" pitchFamily="18" charset="0"/>
                <a:cs typeface="Times New Roman" panose="02020603050405020304" pitchFamily="18" charset="0"/>
              </a:rPr>
              <a:t>Project Scope</a:t>
            </a:r>
            <a:endParaRPr lang="en-IN" sz="2800" dirty="0"/>
          </a:p>
        </p:txBody>
      </p:sp>
      <p:sp>
        <p:nvSpPr>
          <p:cNvPr id="3" name="Content Placeholder 2">
            <a:extLst>
              <a:ext uri="{FF2B5EF4-FFF2-40B4-BE49-F238E27FC236}">
                <a16:creationId xmlns:a16="http://schemas.microsoft.com/office/drawing/2014/main" id="{BF038DAD-5F51-0F41-3D4C-465B2705A422}"/>
              </a:ext>
            </a:extLst>
          </p:cNvPr>
          <p:cNvSpPr>
            <a:spLocks noGrp="1"/>
          </p:cNvSpPr>
          <p:nvPr>
            <p:ph idx="1"/>
          </p:nvPr>
        </p:nvSpPr>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project aims to develop a music recommendation system that uses facial emotion recognition and text sentiment analysis to personalize song suggestions.</a:t>
            </a:r>
          </a:p>
          <a:p>
            <a:pPr algn="just">
              <a:lnSpc>
                <a:spcPct val="150000"/>
              </a:lnSpc>
            </a:pPr>
            <a:r>
              <a:rPr lang="en-US" sz="1800" dirty="0">
                <a:latin typeface="Times New Roman" panose="02020603050405020304" pitchFamily="18" charset="0"/>
                <a:cs typeface="Times New Roman" panose="02020603050405020304" pitchFamily="18" charset="0"/>
              </a:rPr>
              <a:t> It will analyze facial expressions and user input to detect emotions like happiness, sadness, and anger, and use this data along with user preferences and listening history to recommend music. An intuitive user interface will be designed for easy interaction with the application.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6473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0BFF9-B59F-4364-90C7-CF9C7F137979}"/>
              </a:ext>
            </a:extLst>
          </p:cNvPr>
          <p:cNvSpPr>
            <a:spLocks noGrp="1"/>
          </p:cNvSpPr>
          <p:nvPr>
            <p:ph type="title"/>
          </p:nvPr>
        </p:nvSpPr>
        <p:spPr/>
        <p:txBody>
          <a:bodyPr>
            <a:normAutofit/>
          </a:bodyPr>
          <a:lstStyle/>
          <a:p>
            <a:pPr algn="ctr"/>
            <a:r>
              <a:rPr lang="en-IN" sz="2800" b="1" u="sng" dirty="0">
                <a:latin typeface="Times New Roman" panose="02020603050405020304" pitchFamily="18" charset="0"/>
                <a:cs typeface="Times New Roman" panose="02020603050405020304" pitchFamily="18" charset="0"/>
              </a:rPr>
              <a:t>Objectives</a:t>
            </a:r>
            <a:endParaRPr lang="en-IN" sz="2800" dirty="0"/>
          </a:p>
        </p:txBody>
      </p:sp>
      <p:sp>
        <p:nvSpPr>
          <p:cNvPr id="3" name="Content Placeholder 2">
            <a:extLst>
              <a:ext uri="{FF2B5EF4-FFF2-40B4-BE49-F238E27FC236}">
                <a16:creationId xmlns:a16="http://schemas.microsoft.com/office/drawing/2014/main" id="{F4902D93-7875-513A-3B70-6325CBF68E69}"/>
              </a:ext>
            </a:extLst>
          </p:cNvPr>
          <p:cNvSpPr>
            <a:spLocks noGrp="1"/>
          </p:cNvSpPr>
          <p:nvPr>
            <p:ph idx="1"/>
          </p:nvPr>
        </p:nvSpPr>
        <p:spPr/>
        <p:txBody>
          <a:bodyPr>
            <a:normAutofit fontScale="92500"/>
          </a:bodyPr>
          <a:lstStyle/>
          <a:p>
            <a:pPr algn="just">
              <a:lnSpc>
                <a:spcPct val="150000"/>
              </a:lnSpc>
              <a:buFont typeface="+mj-lt"/>
              <a:buAutoNum type="arabicPeriod"/>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Emotion Detection</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Recognize the user's emotional state using facial recognition.</a:t>
            </a:r>
          </a:p>
          <a:p>
            <a:pPr marL="228600" marR="0" lvl="0" indent="-2286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Activity Recognition</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 the user’s current activity (e.g., exercising, working, relaxing)    using sensors or wearable devices.</a:t>
            </a:r>
          </a:p>
          <a:p>
            <a:pPr marL="228600" marR="0" lvl="0" indent="-2286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Personalized Music Selection</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Curate and play music based on the detected emotions and activities.</a:t>
            </a:r>
          </a:p>
          <a:p>
            <a:pPr marL="228600" marR="0" lvl="0" indent="-2286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Mood Enhancement</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 the user’s mood or productivity through context-aware music.</a:t>
            </a:r>
          </a:p>
          <a:p>
            <a:pPr marL="228600" marR="0" lvl="0" indent="-2286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Adaptation</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Continuously adjust the playlist based on changing emotions or activities.</a:t>
            </a:r>
          </a:p>
          <a:p>
            <a:pPr marL="228600" marR="0" lvl="0" indent="-2286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Seamless User Experience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Offer an intuitive and engaging experience by automating music selection without manual input</a:t>
            </a:r>
            <a:endParaRPr lang="en-US" sz="2100" dirty="0"/>
          </a:p>
          <a:p>
            <a:endParaRPr lang="en-IN" dirty="0"/>
          </a:p>
        </p:txBody>
      </p:sp>
    </p:spTree>
    <p:extLst>
      <p:ext uri="{BB962C8B-B14F-4D97-AF65-F5344CB8AC3E}">
        <p14:creationId xmlns:p14="http://schemas.microsoft.com/office/powerpoint/2010/main" val="3193420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A4DF5-C0B3-F681-4C9D-8782489F8535}"/>
              </a:ext>
            </a:extLst>
          </p:cNvPr>
          <p:cNvSpPr>
            <a:spLocks noGrp="1"/>
          </p:cNvSpPr>
          <p:nvPr>
            <p:ph type="title"/>
          </p:nvPr>
        </p:nvSpPr>
        <p:spPr/>
        <p:txBody>
          <a:bodyPr>
            <a:normAutofit/>
          </a:bodyPr>
          <a:lstStyle/>
          <a:p>
            <a:pPr algn="ctr"/>
            <a:r>
              <a:rPr lang="en-IN" sz="2800" b="1" u="sng" dirty="0">
                <a:latin typeface="Times New Roman" panose="02020603050405020304" pitchFamily="18" charset="0"/>
                <a:cs typeface="Times New Roman" panose="02020603050405020304" pitchFamily="18" charset="0"/>
              </a:rPr>
              <a:t>Technology</a:t>
            </a:r>
          </a:p>
        </p:txBody>
      </p:sp>
      <p:sp>
        <p:nvSpPr>
          <p:cNvPr id="4" name="TextBox 3">
            <a:extLst>
              <a:ext uri="{FF2B5EF4-FFF2-40B4-BE49-F238E27FC236}">
                <a16:creationId xmlns:a16="http://schemas.microsoft.com/office/drawing/2014/main" id="{6BE73299-5C5F-578F-5B5A-6E5B0F49D638}"/>
              </a:ext>
            </a:extLst>
          </p:cNvPr>
          <p:cNvSpPr txBox="1"/>
          <p:nvPr/>
        </p:nvSpPr>
        <p:spPr>
          <a:xfrm>
            <a:off x="1517715" y="1690688"/>
            <a:ext cx="9360817" cy="3366563"/>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Software Requirements . </a:t>
            </a:r>
            <a:endParaRPr lang="en-IN" dirty="0">
              <a:latin typeface="Times New Roman" panose="02020603050405020304" pitchFamily="18" charset="0"/>
              <a:cs typeface="Times New Roman" panose="02020603050405020304" pitchFamily="18" charset="0"/>
            </a:endParaRPr>
          </a:p>
          <a:p>
            <a:pPr lvl="1">
              <a:lnSpc>
                <a:spcPct val="150000"/>
              </a:lnSpc>
            </a:pPr>
            <a:r>
              <a:rPr lang="en-US" dirty="0">
                <a:latin typeface="Times New Roman" panose="02020603050405020304" pitchFamily="18" charset="0"/>
                <a:cs typeface="Times New Roman" panose="02020603050405020304" pitchFamily="18" charset="0"/>
              </a:rPr>
              <a:t>Operating system 	         :	64 bit Windows 10.</a:t>
            </a:r>
            <a:endParaRPr lang="en-IN" dirty="0">
              <a:latin typeface="Times New Roman" panose="02020603050405020304" pitchFamily="18" charset="0"/>
              <a:cs typeface="Times New Roman" panose="02020603050405020304" pitchFamily="18" charset="0"/>
            </a:endParaRPr>
          </a:p>
          <a:p>
            <a:pPr lvl="1">
              <a:lnSpc>
                <a:spcPct val="150000"/>
              </a:lnSpc>
            </a:pPr>
            <a:r>
              <a:rPr lang="en-US" dirty="0">
                <a:latin typeface="Times New Roman" panose="02020603050405020304" pitchFamily="18" charset="0"/>
                <a:cs typeface="Times New Roman" panose="02020603050405020304" pitchFamily="18" charset="0"/>
              </a:rPr>
              <a:t>Coding Language	         :     Python</a:t>
            </a: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US"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Hardware Requirements . </a:t>
            </a:r>
            <a:endParaRPr lang="en-IN" dirty="0">
              <a:latin typeface="Times New Roman" panose="02020603050405020304" pitchFamily="18" charset="0"/>
              <a:cs typeface="Times New Roman" panose="02020603050405020304" pitchFamily="18" charset="0"/>
            </a:endParaRPr>
          </a:p>
          <a:p>
            <a:pPr lvl="1">
              <a:lnSpc>
                <a:spcPct val="150000"/>
              </a:lnSpc>
            </a:pPr>
            <a:r>
              <a:rPr lang="en-GB" dirty="0">
                <a:latin typeface="Times New Roman" panose="02020603050405020304" pitchFamily="18" charset="0"/>
                <a:cs typeface="Times New Roman" panose="02020603050405020304" pitchFamily="18" charset="0"/>
              </a:rPr>
              <a:t>System Processors	        : 	Core2Duo </a:t>
            </a:r>
            <a:endParaRPr lang="en-IN" dirty="0">
              <a:latin typeface="Times New Roman" panose="02020603050405020304" pitchFamily="18" charset="0"/>
              <a:cs typeface="Times New Roman" panose="02020603050405020304" pitchFamily="18" charset="0"/>
            </a:endParaRPr>
          </a:p>
          <a:p>
            <a:pPr lvl="1">
              <a:lnSpc>
                <a:spcPct val="150000"/>
              </a:lnSpc>
            </a:pPr>
            <a:r>
              <a:rPr lang="en-GB" dirty="0">
                <a:latin typeface="Times New Roman" panose="02020603050405020304" pitchFamily="18" charset="0"/>
                <a:cs typeface="Times New Roman" panose="02020603050405020304" pitchFamily="18" charset="0"/>
              </a:rPr>
              <a:t>Speed		        :	2.4 GHz </a:t>
            </a:r>
            <a:endParaRPr lang="en-IN" dirty="0">
              <a:latin typeface="Times New Roman" panose="02020603050405020304" pitchFamily="18" charset="0"/>
              <a:cs typeface="Times New Roman" panose="02020603050405020304" pitchFamily="18" charset="0"/>
            </a:endParaRPr>
          </a:p>
          <a:p>
            <a:pPr lvl="1">
              <a:lnSpc>
                <a:spcPct val="150000"/>
              </a:lnSpc>
            </a:pPr>
            <a:r>
              <a:rPr lang="en-GB" dirty="0">
                <a:latin typeface="Times New Roman" panose="02020603050405020304" pitchFamily="18" charset="0"/>
                <a:cs typeface="Times New Roman" panose="02020603050405020304" pitchFamily="18" charset="0"/>
              </a:rPr>
              <a:t>Hard Disk           	        :   	500 GB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1324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022E7-A85C-A1AC-7777-EC271D8E7411}"/>
              </a:ext>
            </a:extLst>
          </p:cNvPr>
          <p:cNvSpPr>
            <a:spLocks noGrp="1"/>
          </p:cNvSpPr>
          <p:nvPr>
            <p:ph type="title"/>
          </p:nvPr>
        </p:nvSpPr>
        <p:spPr>
          <a:xfrm>
            <a:off x="725079" y="84137"/>
            <a:ext cx="10515600" cy="1325563"/>
          </a:xfrm>
        </p:spPr>
        <p:txBody>
          <a:bodyPr>
            <a:normAutofit/>
          </a:bodyPr>
          <a:lstStyle/>
          <a:p>
            <a:pPr algn="ctr"/>
            <a:r>
              <a:rPr lang="en-IN" sz="2800" b="1" u="sng" dirty="0">
                <a:latin typeface="Times New Roman" panose="02020603050405020304" pitchFamily="18" charset="0"/>
                <a:cs typeface="Times New Roman" panose="02020603050405020304" pitchFamily="18" charset="0"/>
              </a:rPr>
              <a:t>Architecture</a:t>
            </a:r>
          </a:p>
        </p:txBody>
      </p:sp>
      <p:pic>
        <p:nvPicPr>
          <p:cNvPr id="6" name="Picture 5">
            <a:extLst>
              <a:ext uri="{FF2B5EF4-FFF2-40B4-BE49-F238E27FC236}">
                <a16:creationId xmlns:a16="http://schemas.microsoft.com/office/drawing/2014/main" id="{17EF3587-895C-80B8-7341-B308BB6B6F34}"/>
              </a:ext>
            </a:extLst>
          </p:cNvPr>
          <p:cNvPicPr>
            <a:picLocks noChangeAspect="1"/>
          </p:cNvPicPr>
          <p:nvPr/>
        </p:nvPicPr>
        <p:blipFill>
          <a:blip r:embed="rId2"/>
          <a:stretch>
            <a:fillRect/>
          </a:stretch>
        </p:blipFill>
        <p:spPr>
          <a:xfrm>
            <a:off x="2667000" y="1590040"/>
            <a:ext cx="6858000" cy="4572000"/>
          </a:xfrm>
          <a:prstGeom prst="rect">
            <a:avLst/>
          </a:prstGeom>
        </p:spPr>
      </p:pic>
    </p:spTree>
    <p:extLst>
      <p:ext uri="{BB962C8B-B14F-4D97-AF65-F5344CB8AC3E}">
        <p14:creationId xmlns:p14="http://schemas.microsoft.com/office/powerpoint/2010/main" val="3688192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2353-0511-B464-9FFE-8E7435974277}"/>
              </a:ext>
            </a:extLst>
          </p:cNvPr>
          <p:cNvSpPr>
            <a:spLocks noGrp="1"/>
          </p:cNvSpPr>
          <p:nvPr>
            <p:ph type="title"/>
          </p:nvPr>
        </p:nvSpPr>
        <p:spPr/>
        <p:txBody>
          <a:bodyPr>
            <a:normAutofit/>
          </a:bodyPr>
          <a:lstStyle/>
          <a:p>
            <a:pPr algn="ctr"/>
            <a:r>
              <a:rPr lang="en-IN" sz="2800" b="1" u="sng" dirty="0">
                <a:latin typeface="Times New Roman" panose="02020603050405020304" pitchFamily="18" charset="0"/>
                <a:cs typeface="Times New Roman" panose="02020603050405020304" pitchFamily="18" charset="0"/>
              </a:rPr>
              <a:t>DATA FLOW DIAGRAM</a:t>
            </a:r>
          </a:p>
        </p:txBody>
      </p:sp>
      <p:pic>
        <p:nvPicPr>
          <p:cNvPr id="3" name="Image 22">
            <a:extLst>
              <a:ext uri="{FF2B5EF4-FFF2-40B4-BE49-F238E27FC236}">
                <a16:creationId xmlns:a16="http://schemas.microsoft.com/office/drawing/2014/main" id="{2CCB1426-571F-7017-CBF6-44129BD2C66F}"/>
              </a:ext>
            </a:extLst>
          </p:cNvPr>
          <p:cNvPicPr>
            <a:picLocks/>
          </p:cNvPicPr>
          <p:nvPr/>
        </p:nvPicPr>
        <p:blipFill>
          <a:blip r:embed="rId3" cstate="print"/>
          <a:stretch>
            <a:fillRect/>
          </a:stretch>
        </p:blipFill>
        <p:spPr>
          <a:xfrm>
            <a:off x="444182" y="1862772"/>
            <a:ext cx="6223635" cy="673735"/>
          </a:xfrm>
          <a:prstGeom prst="rect">
            <a:avLst/>
          </a:prstGeom>
        </p:spPr>
      </p:pic>
      <p:cxnSp>
        <p:nvCxnSpPr>
          <p:cNvPr id="6" name="Straight Arrow Connector 5">
            <a:extLst>
              <a:ext uri="{FF2B5EF4-FFF2-40B4-BE49-F238E27FC236}">
                <a16:creationId xmlns:a16="http://schemas.microsoft.com/office/drawing/2014/main" id="{B7304DAB-E683-A6D3-8C06-83612168C1A8}"/>
              </a:ext>
            </a:extLst>
          </p:cNvPr>
          <p:cNvCxnSpPr/>
          <p:nvPr/>
        </p:nvCxnSpPr>
        <p:spPr>
          <a:xfrm>
            <a:off x="6949440" y="2199639"/>
            <a:ext cx="6197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46B534EE-F84E-6BFB-71CC-D2AAC22CCB93}"/>
              </a:ext>
            </a:extLst>
          </p:cNvPr>
          <p:cNvSpPr/>
          <p:nvPr/>
        </p:nvSpPr>
        <p:spPr>
          <a:xfrm>
            <a:off x="7762240" y="1862772"/>
            <a:ext cx="2844800" cy="67372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Data</a:t>
            </a:r>
            <a:r>
              <a:rPr lang="en-US" dirty="0"/>
              <a:t> Flow Diagram (0)</a:t>
            </a:r>
            <a:endParaRPr lang="en-IN" dirty="0"/>
          </a:p>
        </p:txBody>
      </p:sp>
      <p:pic>
        <p:nvPicPr>
          <p:cNvPr id="8" name="Image 23">
            <a:extLst>
              <a:ext uri="{FF2B5EF4-FFF2-40B4-BE49-F238E27FC236}">
                <a16:creationId xmlns:a16="http://schemas.microsoft.com/office/drawing/2014/main" id="{7B1AB3E1-41AC-86C7-F15B-EC1298E5E597}"/>
              </a:ext>
            </a:extLst>
          </p:cNvPr>
          <p:cNvPicPr>
            <a:picLocks/>
          </p:cNvPicPr>
          <p:nvPr/>
        </p:nvPicPr>
        <p:blipFill>
          <a:blip r:embed="rId4" cstate="print"/>
          <a:stretch>
            <a:fillRect/>
          </a:stretch>
        </p:blipFill>
        <p:spPr>
          <a:xfrm>
            <a:off x="444182" y="3429000"/>
            <a:ext cx="6280785" cy="2531426"/>
          </a:xfrm>
          <a:prstGeom prst="rect">
            <a:avLst/>
          </a:prstGeom>
        </p:spPr>
      </p:pic>
      <p:cxnSp>
        <p:nvCxnSpPr>
          <p:cNvPr id="10" name="Straight Arrow Connector 9">
            <a:extLst>
              <a:ext uri="{FF2B5EF4-FFF2-40B4-BE49-F238E27FC236}">
                <a16:creationId xmlns:a16="http://schemas.microsoft.com/office/drawing/2014/main" id="{A3BB9A5B-DD84-C0C5-331B-BC71A1EBFC3A}"/>
              </a:ext>
            </a:extLst>
          </p:cNvPr>
          <p:cNvCxnSpPr/>
          <p:nvPr/>
        </p:nvCxnSpPr>
        <p:spPr>
          <a:xfrm>
            <a:off x="7051040" y="4013200"/>
            <a:ext cx="589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B2757D5-41D2-38D6-52B2-9FDEDB0CDE36}"/>
              </a:ext>
            </a:extLst>
          </p:cNvPr>
          <p:cNvSpPr/>
          <p:nvPr/>
        </p:nvSpPr>
        <p:spPr>
          <a:xfrm>
            <a:off x="7966393" y="3792858"/>
            <a:ext cx="2733040" cy="82295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Data Flow Diagram (1)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9760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03C26-B521-D07B-9C72-817BBD2B3237}"/>
              </a:ext>
            </a:extLst>
          </p:cNvPr>
          <p:cNvSpPr>
            <a:spLocks noGrp="1"/>
          </p:cNvSpPr>
          <p:nvPr>
            <p:ph type="title"/>
          </p:nvPr>
        </p:nvSpPr>
        <p:spPr/>
        <p:txBody>
          <a:bodyPr>
            <a:normAutofit/>
          </a:bodyPr>
          <a:lstStyle/>
          <a:p>
            <a:pPr algn="ctr"/>
            <a:r>
              <a:rPr lang="en-IN" sz="2800" b="1" u="sng" dirty="0">
                <a:latin typeface="Times New Roman" panose="02020603050405020304" pitchFamily="18" charset="0"/>
                <a:cs typeface="Times New Roman" panose="02020603050405020304" pitchFamily="18" charset="0"/>
              </a:rPr>
              <a:t>Modules</a:t>
            </a:r>
          </a:p>
        </p:txBody>
      </p:sp>
      <p:sp>
        <p:nvSpPr>
          <p:cNvPr id="6" name="TextBox 5">
            <a:extLst>
              <a:ext uri="{FF2B5EF4-FFF2-40B4-BE49-F238E27FC236}">
                <a16:creationId xmlns:a16="http://schemas.microsoft.com/office/drawing/2014/main" id="{2AD22F46-DFD0-06DD-41E5-450E272B9527}"/>
              </a:ext>
            </a:extLst>
          </p:cNvPr>
          <p:cNvSpPr txBox="1"/>
          <p:nvPr/>
        </p:nvSpPr>
        <p:spPr>
          <a:xfrm>
            <a:off x="838200" y="1529798"/>
            <a:ext cx="10210014" cy="3833357"/>
          </a:xfrm>
          <a:prstGeom prst="rect">
            <a:avLst/>
          </a:prstGeom>
          <a:noFill/>
        </p:spPr>
        <p:txBody>
          <a:bodyPr wrap="square">
            <a:spAutoFit/>
          </a:bodyPr>
          <a:lstStyle/>
          <a:p>
            <a:pPr marL="342900" marR="179705" lvl="0" indent="-342900" algn="just">
              <a:lnSpc>
                <a:spcPct val="150000"/>
              </a:lnSpc>
              <a:spcAft>
                <a:spcPts val="65"/>
              </a:spcAft>
              <a:buSzPts val="1000"/>
              <a:buFont typeface="Symbol" panose="05050102010706020507" pitchFamily="18" charset="2"/>
              <a:buChar char=""/>
              <a:tabLst>
                <a:tab pos="457200" algn="l"/>
              </a:tabLst>
            </a:pPr>
            <a:r>
              <a:rPr lang="en-IN" sz="1800" b="1" kern="100" dirty="0">
                <a:solidFill>
                  <a:srgbClr val="000000"/>
                </a:solidFill>
                <a:effectLst/>
                <a:latin typeface="Times New Roman" panose="02020603050405020304" pitchFamily="18" charset="0"/>
                <a:ea typeface="Times New Roman" panose="02020603050405020304" pitchFamily="18" charset="0"/>
              </a:rPr>
              <a:t>Session Detection (session):</a:t>
            </a: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288290" marR="179705" indent="-6350" algn="just">
              <a:lnSpc>
                <a:spcPct val="150000"/>
              </a:lnSpc>
              <a:spcAft>
                <a:spcPts val="65"/>
              </a:spcAft>
            </a:pPr>
            <a:r>
              <a:rPr lang="en-IN" sz="1800" kern="100" dirty="0">
                <a:solidFill>
                  <a:srgbClr val="000000"/>
                </a:solidFill>
                <a:effectLst/>
                <a:latin typeface="Times New Roman" panose="02020603050405020304" pitchFamily="18" charset="0"/>
                <a:ea typeface="Times New Roman" panose="02020603050405020304" pitchFamily="18" charset="0"/>
              </a:rPr>
              <a:t>This module checks the time of the day (morning, night, etc.) to identify the session in which the user is using the application. It helps personalize the song recommendation based on the time of day and the user's typical habits during that session.</a:t>
            </a:r>
          </a:p>
          <a:p>
            <a:pPr marL="342900" marR="179705" lvl="0" indent="-342900" algn="just">
              <a:lnSpc>
                <a:spcPct val="150000"/>
              </a:lnSpc>
              <a:spcAft>
                <a:spcPts val="65"/>
              </a:spcAft>
              <a:buSzPts val="1000"/>
              <a:buFont typeface="Symbol" panose="05050102010706020507" pitchFamily="18" charset="2"/>
              <a:buChar char=""/>
              <a:tabLst>
                <a:tab pos="457200" algn="l"/>
              </a:tabLst>
            </a:pPr>
            <a:r>
              <a:rPr lang="en-IN" b="1" kern="100" dirty="0">
                <a:solidFill>
                  <a:srgbClr val="000000"/>
                </a:solidFill>
                <a:latin typeface="Times New Roman" panose="02020603050405020304" pitchFamily="18" charset="0"/>
                <a:ea typeface="Times New Roman" panose="02020603050405020304" pitchFamily="18" charset="0"/>
              </a:rPr>
              <a:t>Physical Activity Detection (Pact):</a:t>
            </a:r>
            <a:endParaRPr lang="en-IN" kern="100" dirty="0">
              <a:solidFill>
                <a:srgbClr val="000000"/>
              </a:solidFill>
              <a:latin typeface="Times New Roman" panose="02020603050405020304" pitchFamily="18" charset="0"/>
              <a:ea typeface="Times New Roman" panose="02020603050405020304" pitchFamily="18" charset="0"/>
            </a:endParaRPr>
          </a:p>
          <a:p>
            <a:pPr marL="288290" marR="179705" indent="-6350" algn="just">
              <a:lnSpc>
                <a:spcPct val="150000"/>
              </a:lnSpc>
              <a:spcAft>
                <a:spcPts val="65"/>
              </a:spcAft>
            </a:pPr>
            <a:r>
              <a:rPr lang="en-IN" kern="100" dirty="0">
                <a:solidFill>
                  <a:srgbClr val="000000"/>
                </a:solidFill>
                <a:latin typeface="Times New Roman" panose="02020603050405020304" pitchFamily="18" charset="0"/>
                <a:ea typeface="Times New Roman" panose="02020603050405020304" pitchFamily="18" charset="0"/>
              </a:rPr>
              <a:t>This module tracks the user's physical activity, such as walking, driving, or cooking. It influences the song recommendation by tailoring it to the user’s physical context, ensuring the music matches their level of movement.</a:t>
            </a:r>
          </a:p>
          <a:p>
            <a:pPr marL="288290" marR="179705" indent="-6350" algn="just">
              <a:lnSpc>
                <a:spcPct val="150000"/>
              </a:lnSpc>
              <a:spcAft>
                <a:spcPts val="65"/>
              </a:spcAft>
            </a:pPr>
            <a:endParaRPr lang="en-IN" sz="1800" kern="1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46526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1FA039-30B6-CC07-0EFD-9959DD796648}"/>
              </a:ext>
            </a:extLst>
          </p:cNvPr>
          <p:cNvSpPr txBox="1"/>
          <p:nvPr/>
        </p:nvSpPr>
        <p:spPr>
          <a:xfrm>
            <a:off x="490194" y="282560"/>
            <a:ext cx="10953947" cy="4690002"/>
          </a:xfrm>
          <a:prstGeom prst="rect">
            <a:avLst/>
          </a:prstGeom>
          <a:noFill/>
        </p:spPr>
        <p:txBody>
          <a:bodyPr wrap="square">
            <a:spAutoFit/>
          </a:bodyPr>
          <a:lstStyle/>
          <a:p>
            <a:pPr marL="567690" marR="179705" indent="-285750" algn="just">
              <a:lnSpc>
                <a:spcPct val="150000"/>
              </a:lnSpc>
              <a:spcAft>
                <a:spcPts val="65"/>
              </a:spcAft>
              <a:buFont typeface="Arial" panose="020B0604020202020204" pitchFamily="34" charset="0"/>
              <a:buChar char="•"/>
            </a:pPr>
            <a:r>
              <a:rPr lang="en-IN" sz="1800" b="1" kern="100" dirty="0">
                <a:solidFill>
                  <a:srgbClr val="000000"/>
                </a:solidFill>
                <a:effectLst/>
                <a:latin typeface="Times New Roman" panose="02020603050405020304" pitchFamily="18" charset="0"/>
                <a:ea typeface="Times New Roman" panose="02020603050405020304" pitchFamily="18" charset="0"/>
              </a:rPr>
              <a:t>Emotion Detection:</a:t>
            </a:r>
          </a:p>
          <a:p>
            <a:pPr marL="288290" marR="179705" indent="-6350" algn="just">
              <a:lnSpc>
                <a:spcPct val="150000"/>
              </a:lnSpc>
              <a:spcAft>
                <a:spcPts val="65"/>
              </a:spcAft>
            </a:pPr>
            <a:r>
              <a:rPr lang="en-IN" sz="1800" kern="100" dirty="0">
                <a:solidFill>
                  <a:srgbClr val="000000"/>
                </a:solidFill>
                <a:effectLst/>
                <a:latin typeface="Times New Roman" panose="02020603050405020304" pitchFamily="18" charset="0"/>
                <a:ea typeface="Times New Roman" panose="02020603050405020304" pitchFamily="18" charset="0"/>
              </a:rPr>
              <a:t>After emotion detection by the ML module, the classified emotion is sent back to the model. This data helps in choosing music that aligns with the user's current emotional state.</a:t>
            </a:r>
          </a:p>
          <a:p>
            <a:pPr marL="567690" marR="179705" indent="-285750" algn="just">
              <a:lnSpc>
                <a:spcPct val="150000"/>
              </a:lnSpc>
              <a:spcAft>
                <a:spcPts val="65"/>
              </a:spcAft>
              <a:buFont typeface="Arial" panose="020B0604020202020204" pitchFamily="34" charset="0"/>
              <a:buChar char="•"/>
            </a:pPr>
            <a:r>
              <a:rPr lang="en-IN" b="1" kern="100" dirty="0">
                <a:solidFill>
                  <a:srgbClr val="000000"/>
                </a:solidFill>
                <a:latin typeface="Times New Roman" panose="02020603050405020304" pitchFamily="18" charset="0"/>
                <a:ea typeface="Times New Roman" panose="02020603050405020304" pitchFamily="18" charset="0"/>
              </a:rPr>
              <a:t>Data Processing, Training, and Classification:</a:t>
            </a:r>
            <a:endParaRPr lang="en-IN" kern="100" dirty="0">
              <a:solidFill>
                <a:srgbClr val="000000"/>
              </a:solidFill>
              <a:latin typeface="Times New Roman" panose="02020603050405020304" pitchFamily="18" charset="0"/>
              <a:ea typeface="Times New Roman" panose="02020603050405020304" pitchFamily="18" charset="0"/>
            </a:endParaRPr>
          </a:p>
          <a:p>
            <a:pPr marL="288290" marR="179705" indent="-6350" algn="just">
              <a:lnSpc>
                <a:spcPct val="150000"/>
              </a:lnSpc>
              <a:spcAft>
                <a:spcPts val="65"/>
              </a:spcAft>
            </a:pPr>
            <a:r>
              <a:rPr lang="en-IN" kern="100" dirty="0">
                <a:solidFill>
                  <a:srgbClr val="000000"/>
                </a:solidFill>
                <a:latin typeface="Times New Roman" panose="02020603050405020304" pitchFamily="18" charset="0"/>
                <a:ea typeface="Times New Roman" panose="02020603050405020304" pitchFamily="18" charset="0"/>
              </a:rPr>
              <a:t>The system collects data inputs (such as session, mobile activity, physical activity, and emotions), processes them, and applies a trained machine learning model to classify these inputs. It predicts a suitable song based on these factors.</a:t>
            </a:r>
          </a:p>
          <a:p>
            <a:pPr marL="567690" marR="179705" indent="-285750" algn="just">
              <a:lnSpc>
                <a:spcPct val="150000"/>
              </a:lnSpc>
              <a:spcAft>
                <a:spcPts val="65"/>
              </a:spcAft>
              <a:buFont typeface="Arial" panose="020B0604020202020204" pitchFamily="34" charset="0"/>
              <a:buChar char="•"/>
            </a:pPr>
            <a:r>
              <a:rPr lang="en-IN" b="1" kern="100" dirty="0">
                <a:solidFill>
                  <a:srgbClr val="000000"/>
                </a:solidFill>
                <a:latin typeface="Times New Roman" panose="02020603050405020304" pitchFamily="18" charset="0"/>
                <a:ea typeface="Times New Roman" panose="02020603050405020304" pitchFamily="18" charset="0"/>
              </a:rPr>
              <a:t>Predicted Song Output:</a:t>
            </a:r>
            <a:endParaRPr lang="en-IN" kern="100" dirty="0">
              <a:solidFill>
                <a:srgbClr val="000000"/>
              </a:solidFill>
              <a:latin typeface="Times New Roman" panose="02020603050405020304" pitchFamily="18" charset="0"/>
              <a:ea typeface="Times New Roman" panose="02020603050405020304" pitchFamily="18" charset="0"/>
            </a:endParaRPr>
          </a:p>
          <a:p>
            <a:pPr marL="288290" marR="179705" indent="-6350" algn="just">
              <a:lnSpc>
                <a:spcPct val="150000"/>
              </a:lnSpc>
              <a:spcAft>
                <a:spcPts val="65"/>
              </a:spcAft>
            </a:pPr>
            <a:r>
              <a:rPr lang="en-IN" kern="100" dirty="0">
                <a:solidFill>
                  <a:srgbClr val="000000"/>
                </a:solidFill>
                <a:latin typeface="Times New Roman" panose="02020603050405020304" pitchFamily="18" charset="0"/>
                <a:ea typeface="Times New Roman" panose="02020603050405020304" pitchFamily="18" charset="0"/>
              </a:rPr>
              <a:t>The final output is the prediction of a song that matches the user's current emotional state, mobile activity, physical activity, and session. The predicted song is sent to the Android smartphone for the user to play.</a:t>
            </a:r>
          </a:p>
          <a:p>
            <a:pPr marL="288290" marR="179705" indent="-6350" algn="just">
              <a:lnSpc>
                <a:spcPct val="150000"/>
              </a:lnSpc>
              <a:spcAft>
                <a:spcPts val="65"/>
              </a:spcAft>
            </a:pPr>
            <a:endParaRPr lang="en-IN" sz="1800" kern="1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27544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A07FB-E8CB-8253-D6E2-DBC3844FFE9E}"/>
              </a:ext>
            </a:extLst>
          </p:cNvPr>
          <p:cNvSpPr>
            <a:spLocks noGrp="1"/>
          </p:cNvSpPr>
          <p:nvPr>
            <p:ph type="title"/>
          </p:nvPr>
        </p:nvSpPr>
        <p:spPr/>
        <p:txBody>
          <a:bodyPr>
            <a:normAutofit/>
          </a:bodyPr>
          <a:lstStyle/>
          <a:p>
            <a:pPr algn="ctr"/>
            <a:r>
              <a:rPr lang="en-IN" sz="2800" b="1" u="sng" dirty="0">
                <a:latin typeface="Times New Roman" panose="02020603050405020304" pitchFamily="18" charset="0"/>
                <a:cs typeface="Times New Roman" panose="02020603050405020304" pitchFamily="18" charset="0"/>
              </a:rPr>
              <a:t>System Output</a:t>
            </a:r>
          </a:p>
        </p:txBody>
      </p:sp>
      <p:pic>
        <p:nvPicPr>
          <p:cNvPr id="3" name="Image 40">
            <a:extLst>
              <a:ext uri="{FF2B5EF4-FFF2-40B4-BE49-F238E27FC236}">
                <a16:creationId xmlns:a16="http://schemas.microsoft.com/office/drawing/2014/main" id="{B01AB00C-469C-B922-922D-68F45CD4332A}"/>
              </a:ext>
            </a:extLst>
          </p:cNvPr>
          <p:cNvPicPr>
            <a:picLocks/>
          </p:cNvPicPr>
          <p:nvPr/>
        </p:nvPicPr>
        <p:blipFill>
          <a:blip r:embed="rId2" cstate="print"/>
          <a:stretch>
            <a:fillRect/>
          </a:stretch>
        </p:blipFill>
        <p:spPr>
          <a:xfrm>
            <a:off x="211015" y="1991042"/>
            <a:ext cx="4843306" cy="2875915"/>
          </a:xfrm>
          <a:prstGeom prst="rect">
            <a:avLst/>
          </a:prstGeom>
        </p:spPr>
      </p:pic>
      <p:sp>
        <p:nvSpPr>
          <p:cNvPr id="5" name="Rectangle 4">
            <a:extLst>
              <a:ext uri="{FF2B5EF4-FFF2-40B4-BE49-F238E27FC236}">
                <a16:creationId xmlns:a16="http://schemas.microsoft.com/office/drawing/2014/main" id="{D97568CF-16FC-8A5E-83D8-403339B831F1}"/>
              </a:ext>
            </a:extLst>
          </p:cNvPr>
          <p:cNvSpPr/>
          <p:nvPr/>
        </p:nvSpPr>
        <p:spPr>
          <a:xfrm>
            <a:off x="552659" y="5124659"/>
            <a:ext cx="4119825" cy="3516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Home Screen</a:t>
            </a:r>
            <a:endParaRPr lang="en-IN" dirty="0">
              <a:latin typeface="Times New Roman" panose="02020603050405020304" pitchFamily="18" charset="0"/>
              <a:cs typeface="Times New Roman" panose="02020603050405020304" pitchFamily="18" charset="0"/>
            </a:endParaRPr>
          </a:p>
        </p:txBody>
      </p:sp>
      <p:pic>
        <p:nvPicPr>
          <p:cNvPr id="7" name="Image 41">
            <a:extLst>
              <a:ext uri="{FF2B5EF4-FFF2-40B4-BE49-F238E27FC236}">
                <a16:creationId xmlns:a16="http://schemas.microsoft.com/office/drawing/2014/main" id="{F21B364A-E5B8-F685-E6A8-F4C81B5D5B74}"/>
              </a:ext>
            </a:extLst>
          </p:cNvPr>
          <p:cNvPicPr>
            <a:picLocks/>
          </p:cNvPicPr>
          <p:nvPr/>
        </p:nvPicPr>
        <p:blipFill>
          <a:blip r:embed="rId3" cstate="print"/>
          <a:stretch>
            <a:fillRect/>
          </a:stretch>
        </p:blipFill>
        <p:spPr>
          <a:xfrm>
            <a:off x="6782636" y="1991041"/>
            <a:ext cx="4983983" cy="2875916"/>
          </a:xfrm>
          <a:prstGeom prst="rect">
            <a:avLst/>
          </a:prstGeom>
        </p:spPr>
      </p:pic>
      <p:sp>
        <p:nvSpPr>
          <p:cNvPr id="8" name="Rectangle 7">
            <a:extLst>
              <a:ext uri="{FF2B5EF4-FFF2-40B4-BE49-F238E27FC236}">
                <a16:creationId xmlns:a16="http://schemas.microsoft.com/office/drawing/2014/main" id="{B29BAD10-AC6C-4533-D181-2C2592B920B0}"/>
              </a:ext>
            </a:extLst>
          </p:cNvPr>
          <p:cNvSpPr/>
          <p:nvPr/>
        </p:nvSpPr>
        <p:spPr>
          <a:xfrm>
            <a:off x="6983604" y="5124659"/>
            <a:ext cx="4572000" cy="3516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Emotion Detection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1350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42">
            <a:extLst>
              <a:ext uri="{FF2B5EF4-FFF2-40B4-BE49-F238E27FC236}">
                <a16:creationId xmlns:a16="http://schemas.microsoft.com/office/drawing/2014/main" id="{3DF5E9EF-949B-7AB2-246D-0C5CAA816544}"/>
              </a:ext>
            </a:extLst>
          </p:cNvPr>
          <p:cNvPicPr>
            <a:picLocks/>
          </p:cNvPicPr>
          <p:nvPr/>
        </p:nvPicPr>
        <p:blipFill>
          <a:blip r:embed="rId2" cstate="print"/>
          <a:stretch>
            <a:fillRect/>
          </a:stretch>
        </p:blipFill>
        <p:spPr>
          <a:xfrm>
            <a:off x="182881" y="863600"/>
            <a:ext cx="5598159" cy="3749040"/>
          </a:xfrm>
          <a:prstGeom prst="rect">
            <a:avLst/>
          </a:prstGeom>
        </p:spPr>
      </p:pic>
      <p:sp>
        <p:nvSpPr>
          <p:cNvPr id="3" name="Rectangle 2">
            <a:extLst>
              <a:ext uri="{FF2B5EF4-FFF2-40B4-BE49-F238E27FC236}">
                <a16:creationId xmlns:a16="http://schemas.microsoft.com/office/drawing/2014/main" id="{B751CE2E-8347-D02B-1F8F-F50ADF42D680}"/>
              </a:ext>
            </a:extLst>
          </p:cNvPr>
          <p:cNvSpPr/>
          <p:nvPr/>
        </p:nvSpPr>
        <p:spPr>
          <a:xfrm>
            <a:off x="365760" y="5059680"/>
            <a:ext cx="5069840" cy="4470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Emotion Detection</a:t>
            </a:r>
            <a:endParaRPr lang="en-IN" dirty="0">
              <a:latin typeface="Times New Roman" panose="02020603050405020304" pitchFamily="18" charset="0"/>
              <a:cs typeface="Times New Roman" panose="02020603050405020304" pitchFamily="18" charset="0"/>
            </a:endParaRPr>
          </a:p>
        </p:txBody>
      </p:sp>
      <p:pic>
        <p:nvPicPr>
          <p:cNvPr id="4" name="Image 43">
            <a:extLst>
              <a:ext uri="{FF2B5EF4-FFF2-40B4-BE49-F238E27FC236}">
                <a16:creationId xmlns:a16="http://schemas.microsoft.com/office/drawing/2014/main" id="{FE053949-BAC9-F84B-E313-82F5482C930C}"/>
              </a:ext>
            </a:extLst>
          </p:cNvPr>
          <p:cNvPicPr>
            <a:picLocks/>
          </p:cNvPicPr>
          <p:nvPr/>
        </p:nvPicPr>
        <p:blipFill>
          <a:blip r:embed="rId3" cstate="print"/>
          <a:stretch>
            <a:fillRect/>
          </a:stretch>
        </p:blipFill>
        <p:spPr>
          <a:xfrm>
            <a:off x="6248400" y="863600"/>
            <a:ext cx="5669280" cy="3749040"/>
          </a:xfrm>
          <a:prstGeom prst="rect">
            <a:avLst/>
          </a:prstGeom>
        </p:spPr>
      </p:pic>
      <p:sp>
        <p:nvSpPr>
          <p:cNvPr id="5" name="Rectangle 4">
            <a:extLst>
              <a:ext uri="{FF2B5EF4-FFF2-40B4-BE49-F238E27FC236}">
                <a16:creationId xmlns:a16="http://schemas.microsoft.com/office/drawing/2014/main" id="{7FABCE9C-5F7F-8231-994A-3B68D083BA5C}"/>
              </a:ext>
            </a:extLst>
          </p:cNvPr>
          <p:cNvSpPr/>
          <p:nvPr/>
        </p:nvSpPr>
        <p:spPr>
          <a:xfrm>
            <a:off x="6339840" y="5059680"/>
            <a:ext cx="5069840" cy="4470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Activity Detection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915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44">
            <a:extLst>
              <a:ext uri="{FF2B5EF4-FFF2-40B4-BE49-F238E27FC236}">
                <a16:creationId xmlns:a16="http://schemas.microsoft.com/office/drawing/2014/main" id="{FC716AF8-2F3C-2507-8CA5-69FED3C414C1}"/>
              </a:ext>
            </a:extLst>
          </p:cNvPr>
          <p:cNvPicPr>
            <a:picLocks/>
          </p:cNvPicPr>
          <p:nvPr/>
        </p:nvPicPr>
        <p:blipFill>
          <a:blip r:embed="rId2" cstate="print"/>
          <a:stretch>
            <a:fillRect/>
          </a:stretch>
        </p:blipFill>
        <p:spPr>
          <a:xfrm>
            <a:off x="137795" y="792162"/>
            <a:ext cx="5551805" cy="3119755"/>
          </a:xfrm>
          <a:prstGeom prst="rect">
            <a:avLst/>
          </a:prstGeom>
        </p:spPr>
      </p:pic>
      <p:sp>
        <p:nvSpPr>
          <p:cNvPr id="3" name="Rectangle 2">
            <a:extLst>
              <a:ext uri="{FF2B5EF4-FFF2-40B4-BE49-F238E27FC236}">
                <a16:creationId xmlns:a16="http://schemas.microsoft.com/office/drawing/2014/main" id="{39FB0DFF-7BFE-9EB7-FE48-5FF39EEC246F}"/>
              </a:ext>
            </a:extLst>
          </p:cNvPr>
          <p:cNvSpPr/>
          <p:nvPr/>
        </p:nvSpPr>
        <p:spPr>
          <a:xfrm>
            <a:off x="203200" y="4226560"/>
            <a:ext cx="5323840" cy="6705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Day and Night Music Detection</a:t>
            </a:r>
            <a:endParaRPr lang="en-IN" dirty="0">
              <a:latin typeface="Times New Roman" panose="02020603050405020304" pitchFamily="18" charset="0"/>
              <a:cs typeface="Times New Roman" panose="02020603050405020304" pitchFamily="18" charset="0"/>
            </a:endParaRPr>
          </a:p>
        </p:txBody>
      </p:sp>
      <p:pic>
        <p:nvPicPr>
          <p:cNvPr id="4" name="Image 45">
            <a:extLst>
              <a:ext uri="{FF2B5EF4-FFF2-40B4-BE49-F238E27FC236}">
                <a16:creationId xmlns:a16="http://schemas.microsoft.com/office/drawing/2014/main" id="{EB6D9F31-76A7-6E84-7652-A9F9C79B2654}"/>
              </a:ext>
            </a:extLst>
          </p:cNvPr>
          <p:cNvPicPr>
            <a:picLocks/>
          </p:cNvPicPr>
          <p:nvPr/>
        </p:nvPicPr>
        <p:blipFill>
          <a:blip r:embed="rId3" cstate="print"/>
          <a:stretch>
            <a:fillRect/>
          </a:stretch>
        </p:blipFill>
        <p:spPr>
          <a:xfrm>
            <a:off x="5874385" y="848677"/>
            <a:ext cx="5929630" cy="3063240"/>
          </a:xfrm>
          <a:prstGeom prst="rect">
            <a:avLst/>
          </a:prstGeom>
        </p:spPr>
      </p:pic>
      <p:sp>
        <p:nvSpPr>
          <p:cNvPr id="5" name="Rectangle 4">
            <a:extLst>
              <a:ext uri="{FF2B5EF4-FFF2-40B4-BE49-F238E27FC236}">
                <a16:creationId xmlns:a16="http://schemas.microsoft.com/office/drawing/2014/main" id="{7DB60184-9CA8-3EF3-E35C-951DD161DABC}"/>
              </a:ext>
            </a:extLst>
          </p:cNvPr>
          <p:cNvSpPr/>
          <p:nvPr/>
        </p:nvSpPr>
        <p:spPr>
          <a:xfrm>
            <a:off x="5953760" y="4226560"/>
            <a:ext cx="5709920" cy="6705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Text Recommendation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6074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47">
            <a:extLst>
              <a:ext uri="{FF2B5EF4-FFF2-40B4-BE49-F238E27FC236}">
                <a16:creationId xmlns:a16="http://schemas.microsoft.com/office/drawing/2014/main" id="{A0823FCC-FF55-E13E-56E4-DAA05CFF0DD8}"/>
              </a:ext>
            </a:extLst>
          </p:cNvPr>
          <p:cNvPicPr>
            <a:picLocks/>
          </p:cNvPicPr>
          <p:nvPr/>
        </p:nvPicPr>
        <p:blipFill>
          <a:blip r:embed="rId2" cstate="print"/>
          <a:stretch>
            <a:fillRect/>
          </a:stretch>
        </p:blipFill>
        <p:spPr>
          <a:xfrm>
            <a:off x="119380" y="1019810"/>
            <a:ext cx="5641340" cy="2969260"/>
          </a:xfrm>
          <a:prstGeom prst="rect">
            <a:avLst/>
          </a:prstGeom>
        </p:spPr>
      </p:pic>
      <p:sp>
        <p:nvSpPr>
          <p:cNvPr id="6" name="Rectangle 5">
            <a:extLst>
              <a:ext uri="{FF2B5EF4-FFF2-40B4-BE49-F238E27FC236}">
                <a16:creationId xmlns:a16="http://schemas.microsoft.com/office/drawing/2014/main" id="{5AA000A4-65B5-DA9C-38BE-216248019AB5}"/>
              </a:ext>
            </a:extLst>
          </p:cNvPr>
          <p:cNvSpPr/>
          <p:nvPr/>
        </p:nvSpPr>
        <p:spPr>
          <a:xfrm>
            <a:off x="334010" y="4246880"/>
            <a:ext cx="5212080" cy="5994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Live Activity Detection</a:t>
            </a:r>
            <a:endParaRPr lang="en-IN"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5899BC7E-3CB6-AC5D-D0D5-3C0F1C456D85}"/>
              </a:ext>
            </a:extLst>
          </p:cNvPr>
          <p:cNvSpPr/>
          <p:nvPr/>
        </p:nvSpPr>
        <p:spPr>
          <a:xfrm>
            <a:off x="6431280" y="4236720"/>
            <a:ext cx="5161280" cy="6807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Activity example</a:t>
            </a:r>
            <a:endParaRPr lang="en-IN" dirty="0"/>
          </a:p>
        </p:txBody>
      </p:sp>
      <p:pic>
        <p:nvPicPr>
          <p:cNvPr id="9" name="Picture 8">
            <a:extLst>
              <a:ext uri="{FF2B5EF4-FFF2-40B4-BE49-F238E27FC236}">
                <a16:creationId xmlns:a16="http://schemas.microsoft.com/office/drawing/2014/main" id="{24A62A37-A4E4-3F39-BB4D-1558AFDC97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2840" y="1019810"/>
            <a:ext cx="5859780" cy="2881630"/>
          </a:xfrm>
          <a:prstGeom prst="rect">
            <a:avLst/>
          </a:prstGeom>
        </p:spPr>
      </p:pic>
    </p:spTree>
    <p:extLst>
      <p:ext uri="{BB962C8B-B14F-4D97-AF65-F5344CB8AC3E}">
        <p14:creationId xmlns:p14="http://schemas.microsoft.com/office/powerpoint/2010/main" val="1910266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324B1-562F-529F-04BF-83EDA14EBD41}"/>
              </a:ext>
            </a:extLst>
          </p:cNvPr>
          <p:cNvSpPr>
            <a:spLocks noGrp="1"/>
          </p:cNvSpPr>
          <p:nvPr>
            <p:ph type="title"/>
          </p:nvPr>
        </p:nvSpPr>
        <p:spPr/>
        <p:txBody>
          <a:bodyPr>
            <a:normAutofit/>
          </a:bodyPr>
          <a:lstStyle/>
          <a:p>
            <a:pPr algn="ctr"/>
            <a:r>
              <a:rPr lang="en-IN" sz="2800" b="1" u="sng" dirty="0">
                <a:latin typeface="Times New Roman" panose="02020603050405020304" pitchFamily="18" charset="0"/>
                <a:cs typeface="Times New Roman" panose="02020603050405020304" pitchFamily="18" charset="0"/>
              </a:rPr>
              <a:t>Advantage</a:t>
            </a:r>
          </a:p>
        </p:txBody>
      </p:sp>
      <p:sp>
        <p:nvSpPr>
          <p:cNvPr id="10" name="Rectangle 6">
            <a:extLst>
              <a:ext uri="{FF2B5EF4-FFF2-40B4-BE49-F238E27FC236}">
                <a16:creationId xmlns:a16="http://schemas.microsoft.com/office/drawing/2014/main" id="{3CD31579-FEF7-B8BB-DC1F-BC77285DD90E}"/>
              </a:ext>
            </a:extLst>
          </p:cNvPr>
          <p:cNvSpPr>
            <a:spLocks noChangeArrowheads="1"/>
          </p:cNvSpPr>
          <p:nvPr/>
        </p:nvSpPr>
        <p:spPr bwMode="auto">
          <a:xfrm>
            <a:off x="1432089" y="1803653"/>
            <a:ext cx="7662162" cy="24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Music</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Music matches your mood and activity (happy, sad, workout, etc.).</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Mood Boosting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Helps improve or calm your mood with the right songs.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Engaging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Keeps you interested by playing music that fits your current situation.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Focus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Plays music that helps with tasks like working, studying, or exercising.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Playlists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Songs change based on how you feel and what you're doing.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6525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DDE38-9E5E-3F84-5D62-03F87D626A34}"/>
              </a:ext>
            </a:extLst>
          </p:cNvPr>
          <p:cNvSpPr>
            <a:spLocks noGrp="1"/>
          </p:cNvSpPr>
          <p:nvPr>
            <p:ph type="title"/>
          </p:nvPr>
        </p:nvSpPr>
        <p:spPr/>
        <p:txBody>
          <a:bodyPr>
            <a:normAutofit/>
          </a:bodyPr>
          <a:lstStyle/>
          <a:p>
            <a:pPr algn="ctr"/>
            <a:r>
              <a:rPr lang="en-IN" sz="2800" b="1" u="sng" dirty="0">
                <a:latin typeface="Times New Roman" panose="02020603050405020304" pitchFamily="18" charset="0"/>
                <a:cs typeface="Times New Roman" panose="02020603050405020304" pitchFamily="18" charset="0"/>
              </a:rPr>
              <a:t>Disadvantage</a:t>
            </a:r>
            <a:endParaRPr lang="en-IN" sz="60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29FE1C3-873D-34FE-D80C-BA01B2BE38BB}"/>
              </a:ext>
            </a:extLst>
          </p:cNvPr>
          <p:cNvSpPr txBox="1"/>
          <p:nvPr/>
        </p:nvSpPr>
        <p:spPr>
          <a:xfrm>
            <a:off x="1819372" y="1889230"/>
            <a:ext cx="7284563" cy="369332"/>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Internet Required</a:t>
            </a:r>
            <a:r>
              <a:rPr lang="en-US" dirty="0">
                <a:latin typeface="Times New Roman" panose="02020603050405020304" pitchFamily="18" charset="0"/>
                <a:cs typeface="Times New Roman" panose="02020603050405020304" pitchFamily="18" charset="0"/>
              </a:rPr>
              <a:t> – Limited offline use.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6497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95DA2-F45C-B045-F8EE-93550C9AE651}"/>
              </a:ext>
            </a:extLst>
          </p:cNvPr>
          <p:cNvSpPr>
            <a:spLocks noGrp="1"/>
          </p:cNvSpPr>
          <p:nvPr>
            <p:ph type="title"/>
          </p:nvPr>
        </p:nvSpPr>
        <p:spPr/>
        <p:txBody>
          <a:bodyPr>
            <a:normAutofit/>
          </a:bodyPr>
          <a:lstStyle/>
          <a:p>
            <a:pPr algn="ctr"/>
            <a:r>
              <a:rPr lang="en-IN" sz="2800" b="1" u="sng" dirty="0">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9A9803FD-8CD3-D936-E786-9B331EFF3E2C}"/>
              </a:ext>
            </a:extLst>
          </p:cNvPr>
          <p:cNvSpPr txBox="1"/>
          <p:nvPr/>
        </p:nvSpPr>
        <p:spPr>
          <a:xfrm>
            <a:off x="1093510" y="1690688"/>
            <a:ext cx="9907570" cy="5859553"/>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In conclusion, the real-time emotion-based music player project successfully utilizes deep learning techniques to detect facial emotions in real-time and recommend songs or playlists based on the detected emotions. </a:t>
            </a:r>
          </a:p>
          <a:p>
            <a:pPr algn="just">
              <a:lnSpc>
                <a:spcPct val="150000"/>
              </a:lnSpc>
            </a:pPr>
            <a:r>
              <a:rPr lang="en-US" dirty="0">
                <a:latin typeface="Times New Roman" panose="02020603050405020304" pitchFamily="18" charset="0"/>
                <a:cs typeface="Times New Roman" panose="02020603050405020304" pitchFamily="18" charset="0"/>
              </a:rPr>
              <a:t>The integration of Flask, cv2 (OpenCV), and text classifier components enables a seamless user experience and accurate emotion classification. </a:t>
            </a:r>
          </a:p>
          <a:p>
            <a:pPr algn="just">
              <a:lnSpc>
                <a:spcPct val="150000"/>
              </a:lnSpc>
            </a:pPr>
            <a:r>
              <a:rPr lang="en-US" dirty="0">
                <a:latin typeface="Times New Roman" panose="02020603050405020304" pitchFamily="18" charset="0"/>
                <a:cs typeface="Times New Roman" panose="02020603050405020304" pitchFamily="18" charset="0"/>
              </a:rPr>
              <a:t>The project demonstrates the potential of combining computer vision, natural language processing, and web development to create an interactive and personalized music player</a:t>
            </a:r>
          </a:p>
          <a:p>
            <a:pPr algn="just">
              <a:lnSpc>
                <a:spcPct val="150000"/>
              </a:lnSpc>
            </a:pPr>
            <a:r>
              <a:rPr lang="en-US" dirty="0">
                <a:latin typeface="Times New Roman" panose="02020603050405020304" pitchFamily="18" charset="0"/>
                <a:cs typeface="Times New Roman" panose="02020603050405020304" pitchFamily="18" charset="0"/>
              </a:rPr>
              <a:t>The Emotion and Activity-Based Music Player combines artificial intelligence with human-centered design to create a personalized and immersive music experience. By understanding the user's emotions and activities, the system intelligently recommends music that enhances mood, focus, or relaxation. This project not only demonstrates the power of context-aware technology but also opens doors to more emotionally responsive applications in everyday life</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901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0476C-4E82-49DB-649E-02CDD487D12E}"/>
              </a:ext>
            </a:extLst>
          </p:cNvPr>
          <p:cNvSpPr>
            <a:spLocks noGrp="1"/>
          </p:cNvSpPr>
          <p:nvPr>
            <p:ph type="title"/>
          </p:nvPr>
        </p:nvSpPr>
        <p:spPr/>
        <p:txBody>
          <a:bodyPr>
            <a:normAutofit/>
          </a:bodyPr>
          <a:lstStyle/>
          <a:p>
            <a:pPr algn="ctr"/>
            <a:r>
              <a:rPr lang="en-IN" sz="2800" b="1" u="sng" dirty="0">
                <a:latin typeface="Times New Roman" panose="02020603050405020304" pitchFamily="18" charset="0"/>
                <a:cs typeface="Times New Roman" panose="02020603050405020304" pitchFamily="18" charset="0"/>
              </a:rPr>
              <a:t>References</a:t>
            </a:r>
            <a:endParaRPr lang="en-IN" sz="2800"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C8D9985-BDD7-94D2-0D83-A25895738390}"/>
              </a:ext>
            </a:extLst>
          </p:cNvPr>
          <p:cNvSpPr txBox="1"/>
          <p:nvPr/>
        </p:nvSpPr>
        <p:spPr>
          <a:xfrm>
            <a:off x="838199" y="1796020"/>
            <a:ext cx="10515599" cy="5028556"/>
          </a:xfrm>
          <a:prstGeom prst="rect">
            <a:avLst/>
          </a:prstGeom>
          <a:noFill/>
        </p:spPr>
        <p:txBody>
          <a:bodyPr wrap="square">
            <a:spAutoFit/>
          </a:bodyPr>
          <a:lstStyle/>
          <a:p>
            <a:pPr marL="342900" indent="-342900" algn="just">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Abhishek R. Patel, Anusha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Vollal</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Pradnyesh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B. Kadam, Shikha Yadav, Rahul M. Samant.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MoodyPlayer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 Mood based Music Player. International Journal of Computer Applications (0975 8887) Volume 141 No.4, 2016.</a:t>
            </a:r>
            <a:endParaRPr lang="en-US" dirty="0">
              <a:latin typeface="Times New Roman" pitchFamily="18" charset="0"/>
              <a:cs typeface="Times New Roman"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Arya Joshi, Dnyaneshwari Dhumal, Akanksha Ghadge, Abhimanyu Giri, Prof. Balaji Chaugule:</a:t>
            </a:r>
            <a:r>
              <a:rPr lang="en-US" dirty="0">
                <a:latin typeface="Times New Roman" panose="02020603050405020304" pitchFamily="18" charset="0"/>
                <a:cs typeface="Times New Roman" panose="02020603050405020304" pitchFamily="18" charset="0"/>
              </a:rPr>
              <a:t>A Research Proposal for the Emotion And Activity Based Music Player Using Machine Learning</a:t>
            </a:r>
            <a:endParaRPr lang="en-IN"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Namrata Mahajan, Harshad Mahajan. Detecting Emotion in Music. International Journal of Electrical and Electronics Research ISSN 2348- 6988 (Vol. 2), Issue 2, pp: (56-60), Month: April - June 2014.</a:t>
            </a:r>
            <a:endParaRPr lang="en-US" dirty="0">
              <a:latin typeface="Times New Roman" pitchFamily="18" charset="0"/>
              <a:cs typeface="Times New Roman" pitchFamily="18" charset="0"/>
            </a:endParaRPr>
          </a:p>
          <a:p>
            <a:pPr marL="342900" indent="-342900" algn="just">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Day,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Mattew</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Emotion recognition with boosted tree classifier. 2013 ACM international conference on Multimodal Interaction</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Human Facial Expressions [Image]. Retrieved on October 9 2012 from http://www.flickr.com/groups/1876998@N24 /pool/.</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50000"/>
              </a:lnSpc>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714994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656</TotalTime>
  <Words>2040</Words>
  <Application>Microsoft Office PowerPoint</Application>
  <PresentationFormat>Widescreen</PresentationFormat>
  <Paragraphs>220</Paragraphs>
  <Slides>25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Symbol</vt:lpstr>
      <vt:lpstr>Times New Roman</vt:lpstr>
      <vt:lpstr>Wingdings</vt:lpstr>
      <vt:lpstr>Office Theme</vt:lpstr>
      <vt:lpstr>PowerPoint Presentation</vt:lpstr>
      <vt:lpstr> </vt:lpstr>
      <vt:lpstr>PowerPoint Presentation</vt:lpstr>
      <vt:lpstr>Problem Statement</vt:lpstr>
      <vt:lpstr>PowerPoint Presentation</vt:lpstr>
      <vt:lpstr>PowerPoint Presentation</vt:lpstr>
      <vt:lpstr>PowerPoint Presentation</vt:lpstr>
      <vt:lpstr>PowerPoint Presentation</vt:lpstr>
      <vt:lpstr>PowerPoint Presentation</vt:lpstr>
      <vt:lpstr>Purpose</vt:lpstr>
      <vt:lpstr>Project Scope</vt:lpstr>
      <vt:lpstr>Objectives</vt:lpstr>
      <vt:lpstr>Technology</vt:lpstr>
      <vt:lpstr>Architecture</vt:lpstr>
      <vt:lpstr>DATA FLOW DIAGRAM</vt:lpstr>
      <vt:lpstr>Modules</vt:lpstr>
      <vt:lpstr>PowerPoint Presentation</vt:lpstr>
      <vt:lpstr>System Output</vt:lpstr>
      <vt:lpstr>PowerPoint Presentation</vt:lpstr>
      <vt:lpstr>PowerPoint Presentation</vt:lpstr>
      <vt:lpstr>PowerPoint Presentation</vt:lpstr>
      <vt:lpstr>Advantage</vt:lpstr>
      <vt:lpstr>Disadvantage</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akanksha ghadge</dc:creator>
  <cp:lastModifiedBy>akanksha ghadge</cp:lastModifiedBy>
  <cp:revision>19</cp:revision>
  <dcterms:created xsi:type="dcterms:W3CDTF">2024-10-25T02:50:13Z</dcterms:created>
  <dcterms:modified xsi:type="dcterms:W3CDTF">2025-06-13T04:26:36Z</dcterms:modified>
</cp:coreProperties>
</file>